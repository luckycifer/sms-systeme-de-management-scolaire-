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42E"/>
        </a:solidFill>
      </p:bgPr>
    </p:bg>
    <p:spTree>
      <p:nvGrpSpPr>
        <p:cNvPr id="1" name=""/>
        <p:cNvGrpSpPr/>
        <p:nvPr/>
      </p:nvGrpSpPr>
      <p:grpSpPr>
        <a:xfrm>
          <a:off x="0" y="0"/>
          <a:ext cx="0" cy="0"/>
          <a:chOff x="0" y="0"/>
          <a:chExt cx="0" cy="0"/>
        </a:xfrm>
      </p:grpSpPr>
      <p:sp>
        <p:nvSpPr>
          <p:cNvPr id="2" name="Shape 0"/>
          <p:cNvSpPr/>
          <p:nvPr/>
        </p:nvSpPr>
        <p:spPr>
          <a:xfrm>
            <a:off x="7251192" y="850392"/>
            <a:ext cx="4562856" cy="5157216"/>
          </a:xfrm>
          <a:prstGeom prst="roundRect">
            <a:avLst>
              <a:gd name="adj" fmla="val 2405"/>
            </a:avLst>
          </a:prstGeom>
          <a:solidFill>
            <a:srgbClr val="1D2A5C"/>
          </a:solidFill>
          <a:ln/>
          <a:effectLst>
            <a:outerShdw sx="100000" sy="100000" kx="0" ky="0" algn="bl" rotWithShape="0" blurRad="228600" dist="63500" dir="5400000">
              <a:srgbClr val="0D142E">
                <a:alpha val="28000"/>
              </a:srgbClr>
            </a:outerShdw>
          </a:effectLst>
        </p:spPr>
      </p:sp>
      <p:pic>
        <p:nvPicPr>
          <p:cNvPr id="3" name="Image 0" descr="/mnt/user-data/uploads/Projet SMS/docs/screenshots/dashboard.png">    </p:cNvPr>
          <p:cNvPicPr>
            <a:picLocks noChangeAspect="1"/>
          </p:cNvPicPr>
          <p:nvPr/>
        </p:nvPicPr>
        <p:blipFill>
          <a:blip r:embed="rId1"/>
          <a:stretch>
            <a:fillRect/>
          </a:stretch>
        </p:blipFill>
        <p:spPr>
          <a:xfrm>
            <a:off x="7360920" y="2275284"/>
            <a:ext cx="4343400" cy="2307431"/>
          </a:xfrm>
          <a:prstGeom prst="rect">
            <a:avLst/>
          </a:prstGeom>
        </p:spPr>
      </p:pic>
      <p:sp>
        <p:nvSpPr>
          <p:cNvPr id="4" name="Text 1"/>
          <p:cNvSpPr txBox="1"/>
          <p:nvPr/>
        </p:nvSpPr>
        <p:spPr>
          <a:xfrm>
            <a:off x="7360920" y="5394960"/>
            <a:ext cx="4343400" cy="457200"/>
          </a:xfrm>
          <a:prstGeom prst="rect">
            <a:avLst/>
          </a:prstGeom>
          <a:noFill/>
          <a:ln/>
        </p:spPr>
        <p:txBody>
          <a:bodyPr wrap="square" lIns="0" tIns="0" rIns="0" bIns="0" rtlCol="0" anchor="ctr"/>
          <a:lstStyle/>
          <a:p>
            <a:pPr indent="0" marL="0">
              <a:buNone/>
            </a:pPr>
            <a:r>
              <a:rPr lang="en-US" sz="900" i="1" dirty="0">
                <a:solidFill>
                  <a:srgbClr val="C7CFEB"/>
                </a:solidFill>
                <a:latin typeface="Calibri" pitchFamily="34" charset="0"/>
                <a:ea typeface="Calibri" pitchFamily="34" charset="-122"/>
                <a:cs typeface="Calibri" pitchFamily="34" charset="-120"/>
              </a:rPr>
              <a:t>Tableau de bord SMS — capture d'écran réelle de l'application</a:t>
            </a:r>
            <a:endParaRPr lang="en-US" sz="900" dirty="0"/>
          </a:p>
        </p:txBody>
      </p:sp>
      <p:sp>
        <p:nvSpPr>
          <p:cNvPr id="5" name="Shape 2"/>
          <p:cNvSpPr/>
          <p:nvPr/>
        </p:nvSpPr>
        <p:spPr>
          <a:xfrm>
            <a:off x="548640" y="594360"/>
            <a:ext cx="566928" cy="566928"/>
          </a:xfrm>
          <a:prstGeom prst="ellipse">
            <a:avLst/>
          </a:prstGeom>
          <a:solidFill>
            <a:srgbClr val="27356E"/>
          </a:solidFill>
          <a:ln/>
        </p:spPr>
      </p:sp>
      <p:pic>
        <p:nvPicPr>
          <p:cNvPr id="6" name="Image 1" descr="/tmp/work/icons/sms/gradcap.png">    </p:cNvPr>
          <p:cNvPicPr>
            <a:picLocks noChangeAspect="1"/>
          </p:cNvPicPr>
          <p:nvPr/>
        </p:nvPicPr>
        <p:blipFill>
          <a:blip r:embed="rId2"/>
          <a:stretch>
            <a:fillRect/>
          </a:stretch>
        </p:blipFill>
        <p:spPr>
          <a:xfrm>
            <a:off x="684703" y="730423"/>
            <a:ext cx="294803" cy="294803"/>
          </a:xfrm>
          <a:prstGeom prst="rect">
            <a:avLst/>
          </a:prstGeom>
        </p:spPr>
      </p:pic>
      <p:sp>
        <p:nvSpPr>
          <p:cNvPr id="7" name="Text 3"/>
          <p:cNvSpPr txBox="1"/>
          <p:nvPr/>
        </p:nvSpPr>
        <p:spPr>
          <a:xfrm>
            <a:off x="548640" y="1417320"/>
            <a:ext cx="6400800" cy="320040"/>
          </a:xfrm>
          <a:prstGeom prst="rect">
            <a:avLst/>
          </a:prstGeom>
          <a:noFill/>
          <a:ln/>
        </p:spPr>
        <p:txBody>
          <a:bodyPr wrap="square" lIns="0" tIns="0" rIns="0" bIns="0" rtlCol="0" anchor="ctr"/>
          <a:lstStyle/>
          <a:p>
            <a:pPr indent="0" marL="0">
              <a:buNone/>
            </a:pPr>
            <a:r>
              <a:rPr lang="en-US" sz="1250" b="1" spc="150" kern="0" dirty="0">
                <a:solidFill>
                  <a:srgbClr val="D9A62E"/>
                </a:solidFill>
                <a:latin typeface="Calibri" pitchFamily="34" charset="0"/>
                <a:ea typeface="Calibri" pitchFamily="34" charset="-122"/>
                <a:cs typeface="Calibri" pitchFamily="34" charset="-120"/>
              </a:rPr>
              <a:t>RAPPORT DE STAGE · BEST PARTNERS SARL · ESMATA 2025–2026</a:t>
            </a:r>
            <a:endParaRPr lang="en-US" sz="1250" dirty="0"/>
          </a:p>
        </p:txBody>
      </p:sp>
      <p:sp>
        <p:nvSpPr>
          <p:cNvPr id="8" name="Text 4"/>
          <p:cNvSpPr txBox="1"/>
          <p:nvPr/>
        </p:nvSpPr>
        <p:spPr>
          <a:xfrm>
            <a:off x="530352" y="1783080"/>
            <a:ext cx="667512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SMS</a:t>
            </a:r>
            <a:endParaRPr lang="en-US" sz="6000" dirty="0"/>
          </a:p>
        </p:txBody>
      </p:sp>
      <p:sp>
        <p:nvSpPr>
          <p:cNvPr id="9" name="Text 5"/>
          <p:cNvSpPr txBox="1"/>
          <p:nvPr/>
        </p:nvSpPr>
        <p:spPr>
          <a:xfrm>
            <a:off x="566928" y="2880360"/>
            <a:ext cx="6400800" cy="822960"/>
          </a:xfrm>
          <a:prstGeom prst="rect">
            <a:avLst/>
          </a:prstGeom>
          <a:noFill/>
          <a:ln/>
        </p:spPr>
        <p:txBody>
          <a:bodyPr wrap="square" lIns="0" tIns="0" rIns="0" bIns="0" rtlCol="0" anchor="ctr"/>
          <a:lstStyle/>
          <a:p>
            <a:pPr indent="0" marL="0">
              <a:lnSpc>
                <a:spcPct val="125000"/>
              </a:lnSpc>
              <a:buNone/>
            </a:pPr>
            <a:r>
              <a:rPr lang="en-US" sz="1600" dirty="0">
                <a:solidFill>
                  <a:srgbClr val="D6DCF3"/>
                </a:solidFill>
                <a:latin typeface="Calibri" pitchFamily="34" charset="0"/>
                <a:ea typeface="Calibri" pitchFamily="34" charset="-122"/>
                <a:cs typeface="Calibri" pitchFamily="34" charset="-120"/>
              </a:rPr>
              <a:t>Système de Management Scolaire</a:t>
            </a:r>
            <a:endParaRPr lang="en-US" sz="1600" dirty="0"/>
          </a:p>
          <a:p>
            <a:pPr indent="0" marL="0">
              <a:lnSpc>
                <a:spcPct val="125000"/>
              </a:lnSpc>
              <a:buNone/>
            </a:pPr>
            <a:r>
              <a:rPr lang="en-US" sz="1600" dirty="0">
                <a:solidFill>
                  <a:srgbClr val="D6DCF3"/>
                </a:solidFill>
                <a:latin typeface="Calibri" pitchFamily="34" charset="0"/>
                <a:ea typeface="Calibri" pitchFamily="34" charset="-122"/>
                <a:cs typeface="Calibri" pitchFamily="34" charset="-120"/>
              </a:rPr>
              <a:t>multi-établissements — de l'inscription au bulletin.</a:t>
            </a:r>
            <a:endParaRPr lang="en-US" sz="1600" dirty="0"/>
          </a:p>
        </p:txBody>
      </p:sp>
      <p:sp>
        <p:nvSpPr>
          <p:cNvPr id="10" name="Shape 6"/>
          <p:cNvSpPr/>
          <p:nvPr/>
        </p:nvSpPr>
        <p:spPr>
          <a:xfrm>
            <a:off x="566928" y="3977640"/>
            <a:ext cx="4937760" cy="0"/>
          </a:xfrm>
          <a:prstGeom prst="line">
            <a:avLst/>
          </a:prstGeom>
          <a:noFill/>
          <a:ln w="12700">
            <a:solidFill>
              <a:srgbClr val="3A488A"/>
            </a:solidFill>
            <a:prstDash val="solid"/>
          </a:ln>
        </p:spPr>
      </p:sp>
      <p:sp>
        <p:nvSpPr>
          <p:cNvPr id="11" name="Text 7"/>
          <p:cNvSpPr txBox="1"/>
          <p:nvPr/>
        </p:nvSpPr>
        <p:spPr>
          <a:xfrm>
            <a:off x="566928" y="4160520"/>
            <a:ext cx="6309360" cy="1371600"/>
          </a:xfrm>
          <a:prstGeom prst="rect">
            <a:avLst/>
          </a:prstGeom>
          <a:noFill/>
          <a:ln/>
        </p:spPr>
        <p:txBody>
          <a:bodyPr wrap="square" lIns="0" tIns="0" rIns="0" bIns="0" rtlCol="0" anchor="ctr"/>
          <a:lstStyle/>
          <a:p>
            <a:pPr indent="0" marL="0">
              <a:spcAft>
                <a:spcPts val="500"/>
              </a:spcAft>
              <a:buNone/>
            </a:pPr>
            <a:r>
              <a:rPr lang="en-US" sz="1300" b="1" dirty="0">
                <a:solidFill>
                  <a:srgbClr val="E4E8F7"/>
                </a:solidFill>
                <a:latin typeface="Calibri" pitchFamily="34" charset="0"/>
                <a:ea typeface="Calibri" pitchFamily="34" charset="-122"/>
                <a:cs typeface="Calibri" pitchFamily="34" charset="-120"/>
              </a:rPr>
              <a:t>YEMEYA MELIA Luc Norbert</a:t>
            </a:r>
            <a:endParaRPr lang="en-US" sz="1300" dirty="0"/>
          </a:p>
          <a:p>
            <a:pPr indent="0" marL="0">
              <a:spcAft>
                <a:spcPts val="500"/>
              </a:spcAft>
              <a:buNone/>
            </a:pPr>
            <a:r>
              <a:rPr lang="en-US" sz="1300" dirty="0">
                <a:solidFill>
                  <a:srgbClr val="E4E8F7"/>
                </a:solidFill>
                <a:latin typeface="Calibri" pitchFamily="34" charset="0"/>
                <a:ea typeface="Calibri" pitchFamily="34" charset="-122"/>
                <a:cs typeface="Calibri" pitchFamily="34" charset="-120"/>
              </a:rPr>
              <a:t>Licence Génie Logiciel 3 — ESMATA</a:t>
            </a:r>
            <a:endParaRPr lang="en-US" sz="1300" dirty="0"/>
          </a:p>
          <a:p>
            <a:pPr indent="0" marL="0">
              <a:spcAft>
                <a:spcPts val="500"/>
              </a:spcAft>
              <a:buNone/>
            </a:pPr>
            <a:r>
              <a:rPr lang="en-US" sz="1300" dirty="0">
                <a:solidFill>
                  <a:srgbClr val="E4E8F7"/>
                </a:solidFill>
                <a:latin typeface="Calibri" pitchFamily="34" charset="0"/>
                <a:ea typeface="Calibri" pitchFamily="34" charset="-122"/>
                <a:cs typeface="Calibri" pitchFamily="34" charset="-120"/>
              </a:rPr>
              <a:t>Encadreur académique : M. KAMENI KAMENI Hugues</a:t>
            </a:r>
            <a:endParaRPr lang="en-US" sz="1300" dirty="0"/>
          </a:p>
          <a:p>
            <a:pPr indent="0" marL="0">
              <a:spcAft>
                <a:spcPts val="500"/>
              </a:spcAft>
              <a:buNone/>
            </a:pPr>
            <a:r>
              <a:rPr lang="en-US" sz="1300" dirty="0">
                <a:solidFill>
                  <a:srgbClr val="E4E8F7"/>
                </a:solidFill>
                <a:latin typeface="Calibri" pitchFamily="34" charset="0"/>
                <a:ea typeface="Calibri" pitchFamily="34" charset="-122"/>
                <a:cs typeface="Calibri" pitchFamily="34" charset="-120"/>
              </a:rPr>
              <a:t>Encadreur professionnel : M. ELOUYA Rodrigue — BEST PARTNERS Sarl</a:t>
            </a:r>
            <a:endParaRPr lang="en-US" sz="1300" dirty="0"/>
          </a:p>
        </p:txBody>
      </p:sp>
      <p:sp>
        <p:nvSpPr>
          <p:cNvPr id="12" name="Text 8"/>
          <p:cNvSpPr txBox="1"/>
          <p:nvPr/>
        </p:nvSpPr>
        <p:spPr>
          <a:xfrm>
            <a:off x="566928" y="5943600"/>
            <a:ext cx="6675120" cy="320040"/>
          </a:xfrm>
          <a:prstGeom prst="rect">
            <a:avLst/>
          </a:prstGeom>
          <a:noFill/>
          <a:ln/>
        </p:spPr>
        <p:txBody>
          <a:bodyPr wrap="square" lIns="0" tIns="0" rIns="0" bIns="0" rtlCol="0" anchor="ctr"/>
          <a:lstStyle/>
          <a:p>
            <a:pPr indent="0" marL="0">
              <a:buNone/>
            </a:pPr>
            <a:r>
              <a:rPr lang="en-US" sz="1100" i="1" dirty="0">
                <a:solidFill>
                  <a:srgbClr val="8E9BD6"/>
                </a:solidFill>
                <a:latin typeface="Calibri" pitchFamily="34" charset="0"/>
                <a:ea typeface="Calibri" pitchFamily="34" charset="-122"/>
                <a:cs typeface="Calibri" pitchFamily="34" charset="-120"/>
              </a:rPr>
              <a:t>Stage du 5 mai au 6 juillet 2025 · Django REST Framework · React 18 · MySQL 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PLAN DE LA PRÉSENTATION</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Sommaire</a:t>
            </a:r>
            <a:endParaRPr lang="en-US" sz="3000" dirty="0"/>
          </a:p>
        </p:txBody>
      </p:sp>
      <p:sp>
        <p:nvSpPr>
          <p:cNvPr id="4" name="Shape 2"/>
          <p:cNvSpPr/>
          <p:nvPr/>
        </p:nvSpPr>
        <p:spPr>
          <a:xfrm>
            <a:off x="548640" y="1691640"/>
            <a:ext cx="5212080" cy="877824"/>
          </a:xfrm>
          <a:prstGeom prst="roundRect">
            <a:avLst>
              <a:gd name="adj" fmla="val 8333"/>
            </a:avLst>
          </a:prstGeom>
          <a:solidFill>
            <a:srgbClr val="E9EDF8"/>
          </a:solidFill>
          <a:ln/>
        </p:spPr>
      </p:sp>
      <p:sp>
        <p:nvSpPr>
          <p:cNvPr id="5" name="Shape 3"/>
          <p:cNvSpPr/>
          <p:nvPr/>
        </p:nvSpPr>
        <p:spPr>
          <a:xfrm>
            <a:off x="731520" y="1847088"/>
            <a:ext cx="566928" cy="566928"/>
          </a:xfrm>
          <a:prstGeom prst="ellipse">
            <a:avLst/>
          </a:prstGeom>
          <a:solidFill>
            <a:srgbClr val="16214B"/>
          </a:solidFill>
          <a:ln/>
        </p:spPr>
      </p:sp>
      <p:pic>
        <p:nvPicPr>
          <p:cNvPr id="6" name="Image 0" descr="/tmp/work/icons/sms/school.png">    </p:cNvPr>
          <p:cNvPicPr>
            <a:picLocks noChangeAspect="1"/>
          </p:cNvPicPr>
          <p:nvPr/>
        </p:nvPicPr>
        <p:blipFill>
          <a:blip r:embed="rId1"/>
          <a:stretch>
            <a:fillRect/>
          </a:stretch>
        </p:blipFill>
        <p:spPr>
          <a:xfrm>
            <a:off x="867583" y="1983151"/>
            <a:ext cx="294803" cy="294803"/>
          </a:xfrm>
          <a:prstGeom prst="rect">
            <a:avLst/>
          </a:prstGeom>
        </p:spPr>
      </p:pic>
      <p:sp>
        <p:nvSpPr>
          <p:cNvPr id="7" name="Text 4"/>
          <p:cNvSpPr txBox="1"/>
          <p:nvPr/>
        </p:nvSpPr>
        <p:spPr>
          <a:xfrm>
            <a:off x="1417320" y="1746504"/>
            <a:ext cx="731520" cy="457200"/>
          </a:xfrm>
          <a:prstGeom prst="rect">
            <a:avLst/>
          </a:prstGeom>
          <a:noFill/>
          <a:ln/>
        </p:spPr>
        <p:txBody>
          <a:bodyPr wrap="square" lIns="0" tIns="0" rIns="0" bIns="0" rtlCol="0" anchor="ctr"/>
          <a:lstStyle/>
          <a:p>
            <a:pPr indent="0" marL="0">
              <a:buNone/>
            </a:pPr>
            <a:r>
              <a:rPr lang="en-US" sz="2000" b="1" dirty="0">
                <a:solidFill>
                  <a:srgbClr val="D9A62E"/>
                </a:solidFill>
                <a:latin typeface="Cambria" pitchFamily="34" charset="0"/>
                <a:ea typeface="Cambria" pitchFamily="34" charset="-122"/>
                <a:cs typeface="Cambria" pitchFamily="34" charset="-120"/>
              </a:rPr>
              <a:t>01</a:t>
            </a:r>
            <a:endParaRPr lang="en-US" sz="2000" dirty="0"/>
          </a:p>
        </p:txBody>
      </p:sp>
      <p:sp>
        <p:nvSpPr>
          <p:cNvPr id="8" name="Text 5"/>
          <p:cNvSpPr txBox="1"/>
          <p:nvPr/>
        </p:nvSpPr>
        <p:spPr>
          <a:xfrm>
            <a:off x="1965960" y="1783080"/>
            <a:ext cx="3611880" cy="594360"/>
          </a:xfrm>
          <a:prstGeom prst="rect">
            <a:avLst/>
          </a:prstGeom>
          <a:noFill/>
          <a:ln/>
        </p:spPr>
        <p:txBody>
          <a:bodyPr wrap="square" lIns="0" tIns="0" rIns="0" bIns="0" rtlCol="0" anchor="ctr"/>
          <a:lstStyle/>
          <a:p>
            <a:pPr indent="0" marL="0">
              <a:buNone/>
            </a:pPr>
            <a:r>
              <a:rPr lang="en-US" sz="1500" b="1" dirty="0">
                <a:solidFill>
                  <a:srgbClr val="1A1F2E"/>
                </a:solidFill>
                <a:latin typeface="Calibri" pitchFamily="34" charset="0"/>
                <a:ea typeface="Calibri" pitchFamily="34" charset="-122"/>
                <a:cs typeface="Calibri" pitchFamily="34" charset="-120"/>
              </a:rPr>
              <a:t>Contexte &amp; problématique</a:t>
            </a:r>
            <a:endParaRPr lang="en-US" sz="1500" dirty="0"/>
          </a:p>
        </p:txBody>
      </p:sp>
      <p:sp>
        <p:nvSpPr>
          <p:cNvPr id="9" name="Shape 6"/>
          <p:cNvSpPr/>
          <p:nvPr/>
        </p:nvSpPr>
        <p:spPr>
          <a:xfrm>
            <a:off x="548640" y="2770632"/>
            <a:ext cx="5212080" cy="877824"/>
          </a:xfrm>
          <a:prstGeom prst="roundRect">
            <a:avLst>
              <a:gd name="adj" fmla="val 8333"/>
            </a:avLst>
          </a:prstGeom>
          <a:solidFill>
            <a:srgbClr val="E9EDF8"/>
          </a:solidFill>
          <a:ln/>
        </p:spPr>
      </p:sp>
      <p:sp>
        <p:nvSpPr>
          <p:cNvPr id="10" name="Shape 7"/>
          <p:cNvSpPr/>
          <p:nvPr/>
        </p:nvSpPr>
        <p:spPr>
          <a:xfrm>
            <a:off x="731520" y="2926080"/>
            <a:ext cx="566928" cy="566928"/>
          </a:xfrm>
          <a:prstGeom prst="ellipse">
            <a:avLst/>
          </a:prstGeom>
          <a:solidFill>
            <a:srgbClr val="16214B"/>
          </a:solidFill>
          <a:ln/>
        </p:spPr>
      </p:sp>
      <p:pic>
        <p:nvPicPr>
          <p:cNvPr id="11" name="Image 1" descr="/tmp/work/icons/sms/clipboardcheck.png">    </p:cNvPr>
          <p:cNvPicPr>
            <a:picLocks noChangeAspect="1"/>
          </p:cNvPicPr>
          <p:nvPr/>
        </p:nvPicPr>
        <p:blipFill>
          <a:blip r:embed="rId2"/>
          <a:stretch>
            <a:fillRect/>
          </a:stretch>
        </p:blipFill>
        <p:spPr>
          <a:xfrm>
            <a:off x="867583" y="3062143"/>
            <a:ext cx="294803" cy="294803"/>
          </a:xfrm>
          <a:prstGeom prst="rect">
            <a:avLst/>
          </a:prstGeom>
        </p:spPr>
      </p:pic>
      <p:sp>
        <p:nvSpPr>
          <p:cNvPr id="12" name="Text 8"/>
          <p:cNvSpPr txBox="1"/>
          <p:nvPr/>
        </p:nvSpPr>
        <p:spPr>
          <a:xfrm>
            <a:off x="1417320" y="2825496"/>
            <a:ext cx="731520" cy="457200"/>
          </a:xfrm>
          <a:prstGeom prst="rect">
            <a:avLst/>
          </a:prstGeom>
          <a:noFill/>
          <a:ln/>
        </p:spPr>
        <p:txBody>
          <a:bodyPr wrap="square" lIns="0" tIns="0" rIns="0" bIns="0" rtlCol="0" anchor="ctr"/>
          <a:lstStyle/>
          <a:p>
            <a:pPr indent="0" marL="0">
              <a:buNone/>
            </a:pPr>
            <a:r>
              <a:rPr lang="en-US" sz="2000" b="1" dirty="0">
                <a:solidFill>
                  <a:srgbClr val="D9A62E"/>
                </a:solidFill>
                <a:latin typeface="Cambria" pitchFamily="34" charset="0"/>
                <a:ea typeface="Cambria" pitchFamily="34" charset="-122"/>
                <a:cs typeface="Cambria" pitchFamily="34" charset="-120"/>
              </a:rPr>
              <a:t>02</a:t>
            </a:r>
            <a:endParaRPr lang="en-US" sz="2000" dirty="0"/>
          </a:p>
        </p:txBody>
      </p:sp>
      <p:sp>
        <p:nvSpPr>
          <p:cNvPr id="13" name="Text 9"/>
          <p:cNvSpPr txBox="1"/>
          <p:nvPr/>
        </p:nvSpPr>
        <p:spPr>
          <a:xfrm>
            <a:off x="1965960" y="2862072"/>
            <a:ext cx="3611880" cy="594360"/>
          </a:xfrm>
          <a:prstGeom prst="rect">
            <a:avLst/>
          </a:prstGeom>
          <a:noFill/>
          <a:ln/>
        </p:spPr>
        <p:txBody>
          <a:bodyPr wrap="square" lIns="0" tIns="0" rIns="0" bIns="0" rtlCol="0" anchor="ctr"/>
          <a:lstStyle/>
          <a:p>
            <a:pPr indent="0" marL="0">
              <a:buNone/>
            </a:pPr>
            <a:r>
              <a:rPr lang="en-US" sz="1500" b="1" dirty="0">
                <a:solidFill>
                  <a:srgbClr val="1A1F2E"/>
                </a:solidFill>
                <a:latin typeface="Calibri" pitchFamily="34" charset="0"/>
                <a:ea typeface="Calibri" pitchFamily="34" charset="-122"/>
                <a:cs typeface="Calibri" pitchFamily="34" charset="-120"/>
              </a:rPr>
              <a:t>Objectifs du stage</a:t>
            </a:r>
            <a:endParaRPr lang="en-US" sz="1500" dirty="0"/>
          </a:p>
        </p:txBody>
      </p:sp>
      <p:sp>
        <p:nvSpPr>
          <p:cNvPr id="14" name="Shape 10"/>
          <p:cNvSpPr/>
          <p:nvPr/>
        </p:nvSpPr>
        <p:spPr>
          <a:xfrm>
            <a:off x="548640" y="3849624"/>
            <a:ext cx="5212080" cy="877824"/>
          </a:xfrm>
          <a:prstGeom prst="roundRect">
            <a:avLst>
              <a:gd name="adj" fmla="val 8333"/>
            </a:avLst>
          </a:prstGeom>
          <a:solidFill>
            <a:srgbClr val="E9EDF8"/>
          </a:solidFill>
          <a:ln/>
        </p:spPr>
      </p:sp>
      <p:sp>
        <p:nvSpPr>
          <p:cNvPr id="15" name="Shape 11"/>
          <p:cNvSpPr/>
          <p:nvPr/>
        </p:nvSpPr>
        <p:spPr>
          <a:xfrm>
            <a:off x="731520" y="4005072"/>
            <a:ext cx="566928" cy="566928"/>
          </a:xfrm>
          <a:prstGeom prst="ellipse">
            <a:avLst/>
          </a:prstGeom>
          <a:solidFill>
            <a:srgbClr val="16214B"/>
          </a:solidFill>
          <a:ln/>
        </p:spPr>
      </p:sp>
      <p:pic>
        <p:nvPicPr>
          <p:cNvPr id="16" name="Image 2" descr="/tmp/work/icons/sms/cogs.png">    </p:cNvPr>
          <p:cNvPicPr>
            <a:picLocks noChangeAspect="1"/>
          </p:cNvPicPr>
          <p:nvPr/>
        </p:nvPicPr>
        <p:blipFill>
          <a:blip r:embed="rId3"/>
          <a:stretch>
            <a:fillRect/>
          </a:stretch>
        </p:blipFill>
        <p:spPr>
          <a:xfrm>
            <a:off x="867583" y="4141135"/>
            <a:ext cx="294803" cy="294803"/>
          </a:xfrm>
          <a:prstGeom prst="rect">
            <a:avLst/>
          </a:prstGeom>
        </p:spPr>
      </p:pic>
      <p:sp>
        <p:nvSpPr>
          <p:cNvPr id="17" name="Text 12"/>
          <p:cNvSpPr txBox="1"/>
          <p:nvPr/>
        </p:nvSpPr>
        <p:spPr>
          <a:xfrm>
            <a:off x="1417320" y="3904488"/>
            <a:ext cx="731520" cy="457200"/>
          </a:xfrm>
          <a:prstGeom prst="rect">
            <a:avLst/>
          </a:prstGeom>
          <a:noFill/>
          <a:ln/>
        </p:spPr>
        <p:txBody>
          <a:bodyPr wrap="square" lIns="0" tIns="0" rIns="0" bIns="0" rtlCol="0" anchor="ctr"/>
          <a:lstStyle/>
          <a:p>
            <a:pPr indent="0" marL="0">
              <a:buNone/>
            </a:pPr>
            <a:r>
              <a:rPr lang="en-US" sz="2000" b="1" dirty="0">
                <a:solidFill>
                  <a:srgbClr val="D9A62E"/>
                </a:solidFill>
                <a:latin typeface="Cambria" pitchFamily="34" charset="0"/>
                <a:ea typeface="Cambria" pitchFamily="34" charset="-122"/>
                <a:cs typeface="Cambria" pitchFamily="34" charset="-120"/>
              </a:rPr>
              <a:t>03</a:t>
            </a:r>
            <a:endParaRPr lang="en-US" sz="2000" dirty="0"/>
          </a:p>
        </p:txBody>
      </p:sp>
      <p:sp>
        <p:nvSpPr>
          <p:cNvPr id="18" name="Text 13"/>
          <p:cNvSpPr txBox="1"/>
          <p:nvPr/>
        </p:nvSpPr>
        <p:spPr>
          <a:xfrm>
            <a:off x="1965960" y="3941064"/>
            <a:ext cx="3611880" cy="594360"/>
          </a:xfrm>
          <a:prstGeom prst="rect">
            <a:avLst/>
          </a:prstGeom>
          <a:noFill/>
          <a:ln/>
        </p:spPr>
        <p:txBody>
          <a:bodyPr wrap="square" lIns="0" tIns="0" rIns="0" bIns="0" rtlCol="0" anchor="ctr"/>
          <a:lstStyle/>
          <a:p>
            <a:pPr indent="0" marL="0">
              <a:buNone/>
            </a:pPr>
            <a:r>
              <a:rPr lang="en-US" sz="1500" b="1" dirty="0">
                <a:solidFill>
                  <a:srgbClr val="1A1F2E"/>
                </a:solidFill>
                <a:latin typeface="Calibri" pitchFamily="34" charset="0"/>
                <a:ea typeface="Calibri" pitchFamily="34" charset="-122"/>
                <a:cs typeface="Calibri" pitchFamily="34" charset="-120"/>
              </a:rPr>
              <a:t>Méthodologie (2TUP)</a:t>
            </a:r>
            <a:endParaRPr lang="en-US" sz="1500" dirty="0"/>
          </a:p>
        </p:txBody>
      </p:sp>
      <p:sp>
        <p:nvSpPr>
          <p:cNvPr id="19" name="Shape 14"/>
          <p:cNvSpPr/>
          <p:nvPr/>
        </p:nvSpPr>
        <p:spPr>
          <a:xfrm>
            <a:off x="548640" y="4928616"/>
            <a:ext cx="5212080" cy="877824"/>
          </a:xfrm>
          <a:prstGeom prst="roundRect">
            <a:avLst>
              <a:gd name="adj" fmla="val 8333"/>
            </a:avLst>
          </a:prstGeom>
          <a:solidFill>
            <a:srgbClr val="E9EDF8"/>
          </a:solidFill>
          <a:ln/>
        </p:spPr>
      </p:sp>
      <p:sp>
        <p:nvSpPr>
          <p:cNvPr id="20" name="Shape 15"/>
          <p:cNvSpPr/>
          <p:nvPr/>
        </p:nvSpPr>
        <p:spPr>
          <a:xfrm>
            <a:off x="731520" y="5084064"/>
            <a:ext cx="566928" cy="566928"/>
          </a:xfrm>
          <a:prstGeom prst="ellipse">
            <a:avLst/>
          </a:prstGeom>
          <a:solidFill>
            <a:srgbClr val="16214B"/>
          </a:solidFill>
          <a:ln/>
        </p:spPr>
      </p:sp>
      <p:pic>
        <p:nvPicPr>
          <p:cNvPr id="21" name="Image 3" descr="/tmp/work/icons/sms/sitemap.png">    </p:cNvPr>
          <p:cNvPicPr>
            <a:picLocks noChangeAspect="1"/>
          </p:cNvPicPr>
          <p:nvPr/>
        </p:nvPicPr>
        <p:blipFill>
          <a:blip r:embed="rId4"/>
          <a:stretch>
            <a:fillRect/>
          </a:stretch>
        </p:blipFill>
        <p:spPr>
          <a:xfrm>
            <a:off x="867583" y="5220127"/>
            <a:ext cx="294803" cy="294803"/>
          </a:xfrm>
          <a:prstGeom prst="rect">
            <a:avLst/>
          </a:prstGeom>
        </p:spPr>
      </p:pic>
      <p:sp>
        <p:nvSpPr>
          <p:cNvPr id="22" name="Text 16"/>
          <p:cNvSpPr txBox="1"/>
          <p:nvPr/>
        </p:nvSpPr>
        <p:spPr>
          <a:xfrm>
            <a:off x="1417320" y="4983480"/>
            <a:ext cx="731520" cy="457200"/>
          </a:xfrm>
          <a:prstGeom prst="rect">
            <a:avLst/>
          </a:prstGeom>
          <a:noFill/>
          <a:ln/>
        </p:spPr>
        <p:txBody>
          <a:bodyPr wrap="square" lIns="0" tIns="0" rIns="0" bIns="0" rtlCol="0" anchor="ctr"/>
          <a:lstStyle/>
          <a:p>
            <a:pPr indent="0" marL="0">
              <a:buNone/>
            </a:pPr>
            <a:r>
              <a:rPr lang="en-US" sz="2000" b="1" dirty="0">
                <a:solidFill>
                  <a:srgbClr val="D9A62E"/>
                </a:solidFill>
                <a:latin typeface="Cambria" pitchFamily="34" charset="0"/>
                <a:ea typeface="Cambria" pitchFamily="34" charset="-122"/>
                <a:cs typeface="Cambria" pitchFamily="34" charset="-120"/>
              </a:rPr>
              <a:t>04</a:t>
            </a:r>
            <a:endParaRPr lang="en-US" sz="2000" dirty="0"/>
          </a:p>
        </p:txBody>
      </p:sp>
      <p:sp>
        <p:nvSpPr>
          <p:cNvPr id="23" name="Text 17"/>
          <p:cNvSpPr txBox="1"/>
          <p:nvPr/>
        </p:nvSpPr>
        <p:spPr>
          <a:xfrm>
            <a:off x="1965960" y="5020056"/>
            <a:ext cx="3611880" cy="594360"/>
          </a:xfrm>
          <a:prstGeom prst="rect">
            <a:avLst/>
          </a:prstGeom>
          <a:noFill/>
          <a:ln/>
        </p:spPr>
        <p:txBody>
          <a:bodyPr wrap="square" lIns="0" tIns="0" rIns="0" bIns="0" rtlCol="0" anchor="ctr"/>
          <a:lstStyle/>
          <a:p>
            <a:pPr indent="0" marL="0">
              <a:buNone/>
            </a:pPr>
            <a:r>
              <a:rPr lang="en-US" sz="1500" b="1" dirty="0">
                <a:solidFill>
                  <a:srgbClr val="1A1F2E"/>
                </a:solidFill>
                <a:latin typeface="Calibri" pitchFamily="34" charset="0"/>
                <a:ea typeface="Calibri" pitchFamily="34" charset="-122"/>
                <a:cs typeface="Calibri" pitchFamily="34" charset="-120"/>
              </a:rPr>
              <a:t>Architecture &amp; technologies</a:t>
            </a:r>
            <a:endParaRPr lang="en-US" sz="1500" dirty="0"/>
          </a:p>
        </p:txBody>
      </p:sp>
      <p:sp>
        <p:nvSpPr>
          <p:cNvPr id="24" name="Shape 18"/>
          <p:cNvSpPr/>
          <p:nvPr/>
        </p:nvSpPr>
        <p:spPr>
          <a:xfrm>
            <a:off x="6263640" y="1691640"/>
            <a:ext cx="5212080" cy="877824"/>
          </a:xfrm>
          <a:prstGeom prst="roundRect">
            <a:avLst>
              <a:gd name="adj" fmla="val 8333"/>
            </a:avLst>
          </a:prstGeom>
          <a:solidFill>
            <a:srgbClr val="E9EDF8"/>
          </a:solidFill>
          <a:ln/>
        </p:spPr>
      </p:sp>
      <p:sp>
        <p:nvSpPr>
          <p:cNvPr id="25" name="Shape 19"/>
          <p:cNvSpPr/>
          <p:nvPr/>
        </p:nvSpPr>
        <p:spPr>
          <a:xfrm>
            <a:off x="6446520" y="1847088"/>
            <a:ext cx="566928" cy="566928"/>
          </a:xfrm>
          <a:prstGeom prst="ellipse">
            <a:avLst/>
          </a:prstGeom>
          <a:solidFill>
            <a:srgbClr val="16214B"/>
          </a:solidFill>
          <a:ln/>
        </p:spPr>
      </p:sp>
      <p:pic>
        <p:nvPicPr>
          <p:cNvPr id="26" name="Image 4" descr="/tmp/work/icons/sms/chalkboard.png">    </p:cNvPr>
          <p:cNvPicPr>
            <a:picLocks noChangeAspect="1"/>
          </p:cNvPicPr>
          <p:nvPr/>
        </p:nvPicPr>
        <p:blipFill>
          <a:blip r:embed="rId5"/>
          <a:stretch>
            <a:fillRect/>
          </a:stretch>
        </p:blipFill>
        <p:spPr>
          <a:xfrm>
            <a:off x="6582583" y="1983151"/>
            <a:ext cx="294803" cy="294803"/>
          </a:xfrm>
          <a:prstGeom prst="rect">
            <a:avLst/>
          </a:prstGeom>
        </p:spPr>
      </p:pic>
      <p:sp>
        <p:nvSpPr>
          <p:cNvPr id="27" name="Text 20"/>
          <p:cNvSpPr txBox="1"/>
          <p:nvPr/>
        </p:nvSpPr>
        <p:spPr>
          <a:xfrm>
            <a:off x="7132320" y="1746504"/>
            <a:ext cx="731520" cy="457200"/>
          </a:xfrm>
          <a:prstGeom prst="rect">
            <a:avLst/>
          </a:prstGeom>
          <a:noFill/>
          <a:ln/>
        </p:spPr>
        <p:txBody>
          <a:bodyPr wrap="square" lIns="0" tIns="0" rIns="0" bIns="0" rtlCol="0" anchor="ctr"/>
          <a:lstStyle/>
          <a:p>
            <a:pPr indent="0" marL="0">
              <a:buNone/>
            </a:pPr>
            <a:r>
              <a:rPr lang="en-US" sz="2000" b="1" dirty="0">
                <a:solidFill>
                  <a:srgbClr val="D9A62E"/>
                </a:solidFill>
                <a:latin typeface="Cambria" pitchFamily="34" charset="0"/>
                <a:ea typeface="Cambria" pitchFamily="34" charset="-122"/>
                <a:cs typeface="Cambria" pitchFamily="34" charset="-120"/>
              </a:rPr>
              <a:t>05</a:t>
            </a:r>
            <a:endParaRPr lang="en-US" sz="2000" dirty="0"/>
          </a:p>
        </p:txBody>
      </p:sp>
      <p:sp>
        <p:nvSpPr>
          <p:cNvPr id="28" name="Text 21"/>
          <p:cNvSpPr txBox="1"/>
          <p:nvPr/>
        </p:nvSpPr>
        <p:spPr>
          <a:xfrm>
            <a:off x="7680960" y="1783080"/>
            <a:ext cx="3611880" cy="594360"/>
          </a:xfrm>
          <a:prstGeom prst="rect">
            <a:avLst/>
          </a:prstGeom>
          <a:noFill/>
          <a:ln/>
        </p:spPr>
        <p:txBody>
          <a:bodyPr wrap="square" lIns="0" tIns="0" rIns="0" bIns="0" rtlCol="0" anchor="ctr"/>
          <a:lstStyle/>
          <a:p>
            <a:pPr indent="0" marL="0">
              <a:buNone/>
            </a:pPr>
            <a:r>
              <a:rPr lang="en-US" sz="1500" b="1" dirty="0">
                <a:solidFill>
                  <a:srgbClr val="1A1F2E"/>
                </a:solidFill>
                <a:latin typeface="Calibri" pitchFamily="34" charset="0"/>
                <a:ea typeface="Calibri" pitchFamily="34" charset="-122"/>
                <a:cs typeface="Calibri" pitchFamily="34" charset="-120"/>
              </a:rPr>
              <a:t>Fonctionnalités clés</a:t>
            </a:r>
            <a:endParaRPr lang="en-US" sz="1500" dirty="0"/>
          </a:p>
        </p:txBody>
      </p:sp>
      <p:sp>
        <p:nvSpPr>
          <p:cNvPr id="29" name="Shape 22"/>
          <p:cNvSpPr/>
          <p:nvPr/>
        </p:nvSpPr>
        <p:spPr>
          <a:xfrm>
            <a:off x="6263640" y="2770632"/>
            <a:ext cx="5212080" cy="877824"/>
          </a:xfrm>
          <a:prstGeom prst="roundRect">
            <a:avLst>
              <a:gd name="adj" fmla="val 8333"/>
            </a:avLst>
          </a:prstGeom>
          <a:solidFill>
            <a:srgbClr val="E9EDF8"/>
          </a:solidFill>
          <a:ln/>
        </p:spPr>
      </p:sp>
      <p:sp>
        <p:nvSpPr>
          <p:cNvPr id="30" name="Shape 23"/>
          <p:cNvSpPr/>
          <p:nvPr/>
        </p:nvSpPr>
        <p:spPr>
          <a:xfrm>
            <a:off x="6446520" y="2926080"/>
            <a:ext cx="566928" cy="566928"/>
          </a:xfrm>
          <a:prstGeom prst="ellipse">
            <a:avLst/>
          </a:prstGeom>
          <a:solidFill>
            <a:srgbClr val="16214B"/>
          </a:solidFill>
          <a:ln/>
        </p:spPr>
      </p:sp>
      <p:pic>
        <p:nvPicPr>
          <p:cNvPr id="31" name="Image 5" descr="/tmp/work/icons/sms/shield.png">    </p:cNvPr>
          <p:cNvPicPr>
            <a:picLocks noChangeAspect="1"/>
          </p:cNvPicPr>
          <p:nvPr/>
        </p:nvPicPr>
        <p:blipFill>
          <a:blip r:embed="rId6"/>
          <a:stretch>
            <a:fillRect/>
          </a:stretch>
        </p:blipFill>
        <p:spPr>
          <a:xfrm>
            <a:off x="6582583" y="3062143"/>
            <a:ext cx="294803" cy="294803"/>
          </a:xfrm>
          <a:prstGeom prst="rect">
            <a:avLst/>
          </a:prstGeom>
        </p:spPr>
      </p:pic>
      <p:sp>
        <p:nvSpPr>
          <p:cNvPr id="32" name="Text 24"/>
          <p:cNvSpPr txBox="1"/>
          <p:nvPr/>
        </p:nvSpPr>
        <p:spPr>
          <a:xfrm>
            <a:off x="7132320" y="2825496"/>
            <a:ext cx="731520" cy="457200"/>
          </a:xfrm>
          <a:prstGeom prst="rect">
            <a:avLst/>
          </a:prstGeom>
          <a:noFill/>
          <a:ln/>
        </p:spPr>
        <p:txBody>
          <a:bodyPr wrap="square" lIns="0" tIns="0" rIns="0" bIns="0" rtlCol="0" anchor="ctr"/>
          <a:lstStyle/>
          <a:p>
            <a:pPr indent="0" marL="0">
              <a:buNone/>
            </a:pPr>
            <a:r>
              <a:rPr lang="en-US" sz="2000" b="1" dirty="0">
                <a:solidFill>
                  <a:srgbClr val="D9A62E"/>
                </a:solidFill>
                <a:latin typeface="Cambria" pitchFamily="34" charset="0"/>
                <a:ea typeface="Cambria" pitchFamily="34" charset="-122"/>
                <a:cs typeface="Cambria" pitchFamily="34" charset="-120"/>
              </a:rPr>
              <a:t>06</a:t>
            </a:r>
            <a:endParaRPr lang="en-US" sz="2000" dirty="0"/>
          </a:p>
        </p:txBody>
      </p:sp>
      <p:sp>
        <p:nvSpPr>
          <p:cNvPr id="33" name="Text 25"/>
          <p:cNvSpPr txBox="1"/>
          <p:nvPr/>
        </p:nvSpPr>
        <p:spPr>
          <a:xfrm>
            <a:off x="7680960" y="2862072"/>
            <a:ext cx="3611880" cy="594360"/>
          </a:xfrm>
          <a:prstGeom prst="rect">
            <a:avLst/>
          </a:prstGeom>
          <a:noFill/>
          <a:ln/>
        </p:spPr>
        <p:txBody>
          <a:bodyPr wrap="square" lIns="0" tIns="0" rIns="0" bIns="0" rtlCol="0" anchor="ctr"/>
          <a:lstStyle/>
          <a:p>
            <a:pPr indent="0" marL="0">
              <a:buNone/>
            </a:pPr>
            <a:r>
              <a:rPr lang="en-US" sz="1500" b="1" dirty="0">
                <a:solidFill>
                  <a:srgbClr val="1A1F2E"/>
                </a:solidFill>
                <a:latin typeface="Calibri" pitchFamily="34" charset="0"/>
                <a:ea typeface="Calibri" pitchFamily="34" charset="-122"/>
                <a:cs typeface="Calibri" pitchFamily="34" charset="-120"/>
              </a:rPr>
              <a:t>Sécurité, tests &amp; fiabilité</a:t>
            </a:r>
            <a:endParaRPr lang="en-US" sz="1500" dirty="0"/>
          </a:p>
        </p:txBody>
      </p:sp>
      <p:sp>
        <p:nvSpPr>
          <p:cNvPr id="34" name="Shape 26"/>
          <p:cNvSpPr/>
          <p:nvPr/>
        </p:nvSpPr>
        <p:spPr>
          <a:xfrm>
            <a:off x="6263640" y="3849624"/>
            <a:ext cx="5212080" cy="877824"/>
          </a:xfrm>
          <a:prstGeom prst="roundRect">
            <a:avLst>
              <a:gd name="adj" fmla="val 8333"/>
            </a:avLst>
          </a:prstGeom>
          <a:solidFill>
            <a:srgbClr val="E9EDF8"/>
          </a:solidFill>
          <a:ln/>
        </p:spPr>
      </p:sp>
      <p:sp>
        <p:nvSpPr>
          <p:cNvPr id="35" name="Shape 27"/>
          <p:cNvSpPr/>
          <p:nvPr/>
        </p:nvSpPr>
        <p:spPr>
          <a:xfrm>
            <a:off x="6446520" y="4005072"/>
            <a:ext cx="566928" cy="566928"/>
          </a:xfrm>
          <a:prstGeom prst="ellipse">
            <a:avLst/>
          </a:prstGeom>
          <a:solidFill>
            <a:srgbClr val="16214B"/>
          </a:solidFill>
          <a:ln/>
        </p:spPr>
      </p:sp>
      <p:pic>
        <p:nvPicPr>
          <p:cNvPr id="36" name="Image 6" descr="/tmp/work/icons/sms/rocket.png">    </p:cNvPr>
          <p:cNvPicPr>
            <a:picLocks noChangeAspect="1"/>
          </p:cNvPicPr>
          <p:nvPr/>
        </p:nvPicPr>
        <p:blipFill>
          <a:blip r:embed="rId7"/>
          <a:stretch>
            <a:fillRect/>
          </a:stretch>
        </p:blipFill>
        <p:spPr>
          <a:xfrm>
            <a:off x="6582583" y="4141135"/>
            <a:ext cx="294803" cy="294803"/>
          </a:xfrm>
          <a:prstGeom prst="rect">
            <a:avLst/>
          </a:prstGeom>
        </p:spPr>
      </p:pic>
      <p:sp>
        <p:nvSpPr>
          <p:cNvPr id="37" name="Text 28"/>
          <p:cNvSpPr txBox="1"/>
          <p:nvPr/>
        </p:nvSpPr>
        <p:spPr>
          <a:xfrm>
            <a:off x="7132320" y="3904488"/>
            <a:ext cx="731520" cy="457200"/>
          </a:xfrm>
          <a:prstGeom prst="rect">
            <a:avLst/>
          </a:prstGeom>
          <a:noFill/>
          <a:ln/>
        </p:spPr>
        <p:txBody>
          <a:bodyPr wrap="square" lIns="0" tIns="0" rIns="0" bIns="0" rtlCol="0" anchor="ctr"/>
          <a:lstStyle/>
          <a:p>
            <a:pPr indent="0" marL="0">
              <a:buNone/>
            </a:pPr>
            <a:r>
              <a:rPr lang="en-US" sz="2000" b="1" dirty="0">
                <a:solidFill>
                  <a:srgbClr val="D9A62E"/>
                </a:solidFill>
                <a:latin typeface="Cambria" pitchFamily="34" charset="0"/>
                <a:ea typeface="Cambria" pitchFamily="34" charset="-122"/>
                <a:cs typeface="Cambria" pitchFamily="34" charset="-120"/>
              </a:rPr>
              <a:t>07</a:t>
            </a:r>
            <a:endParaRPr lang="en-US" sz="2000" dirty="0"/>
          </a:p>
        </p:txBody>
      </p:sp>
      <p:sp>
        <p:nvSpPr>
          <p:cNvPr id="38" name="Text 29"/>
          <p:cNvSpPr txBox="1"/>
          <p:nvPr/>
        </p:nvSpPr>
        <p:spPr>
          <a:xfrm>
            <a:off x="7680960" y="3941064"/>
            <a:ext cx="3611880" cy="594360"/>
          </a:xfrm>
          <a:prstGeom prst="rect">
            <a:avLst/>
          </a:prstGeom>
          <a:noFill/>
          <a:ln/>
        </p:spPr>
        <p:txBody>
          <a:bodyPr wrap="square" lIns="0" tIns="0" rIns="0" bIns="0" rtlCol="0" anchor="ctr"/>
          <a:lstStyle/>
          <a:p>
            <a:pPr indent="0" marL="0">
              <a:buNone/>
            </a:pPr>
            <a:r>
              <a:rPr lang="en-US" sz="1500" b="1" dirty="0">
                <a:solidFill>
                  <a:srgbClr val="1A1F2E"/>
                </a:solidFill>
                <a:latin typeface="Calibri" pitchFamily="34" charset="0"/>
                <a:ea typeface="Calibri" pitchFamily="34" charset="-122"/>
                <a:cs typeface="Calibri" pitchFamily="34" charset="-120"/>
              </a:rPr>
              <a:t>Résultats &amp; perspectives</a:t>
            </a:r>
            <a:endParaRPr lang="en-US" sz="1500" dirty="0"/>
          </a:p>
        </p:txBody>
      </p:sp>
      <p:sp>
        <p:nvSpPr>
          <p:cNvPr id="39" name="Text 3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40" name="Text 3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01 · CONTEXTE</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BPS Tech, et un besoin partagé par plusieurs établissements</a:t>
            </a:r>
            <a:endParaRPr lang="en-US" sz="3000" dirty="0"/>
          </a:p>
        </p:txBody>
      </p:sp>
      <p:sp>
        <p:nvSpPr>
          <p:cNvPr id="4" name="Text 2"/>
          <p:cNvSpPr txBox="1"/>
          <p:nvPr/>
        </p:nvSpPr>
        <p:spPr>
          <a:xfrm>
            <a:off x="548640" y="1554480"/>
            <a:ext cx="5669280" cy="1920240"/>
          </a:xfrm>
          <a:prstGeom prst="rect">
            <a:avLst/>
          </a:prstGeom>
          <a:noFill/>
          <a:ln/>
        </p:spPr>
        <p:txBody>
          <a:bodyPr wrap="square" lIns="0" tIns="0" rIns="0" bIns="0" rtlCol="0" anchor="ctr"/>
          <a:lstStyle/>
          <a:p>
            <a:pPr indent="0" marL="0">
              <a:lnSpc>
                <a:spcPct val="128000"/>
              </a:lnSpc>
              <a:buNone/>
            </a:pPr>
            <a:r>
              <a:rPr lang="en-US" sz="1350" dirty="0">
                <a:solidFill>
                  <a:srgbClr val="1A1F2E"/>
                </a:solidFill>
                <a:latin typeface="Calibri" pitchFamily="34" charset="0"/>
                <a:ea typeface="Calibri" pitchFamily="34" charset="-122"/>
                <a:cs typeface="Calibri" pitchFamily="34" charset="-120"/>
              </a:rPr>
              <a:t>BEST PARTNERS Sarl (BPS) est un groupe organisé en plusieurs pôles, dont BPS Tech, chargé du développement logiciel. Plusieurs établissements scolaires partenaires géraient encore les inscriptions, notes, absences et paiements sur des supports hétérogènes — tableurs, registres papier, applications isolées — sans vision consolidée ni continuité d'une année à l'autre.</a:t>
            </a:r>
            <a:endParaRPr lang="en-US" sz="1350" dirty="0"/>
          </a:p>
        </p:txBody>
      </p:sp>
      <p:sp>
        <p:nvSpPr>
          <p:cNvPr id="5" name="Text 3"/>
          <p:cNvSpPr txBox="1"/>
          <p:nvPr/>
        </p:nvSpPr>
        <p:spPr>
          <a:xfrm>
            <a:off x="548640" y="3611880"/>
            <a:ext cx="5486400" cy="274320"/>
          </a:xfrm>
          <a:prstGeom prst="rect">
            <a:avLst/>
          </a:prstGeom>
          <a:noFill/>
          <a:ln/>
        </p:spPr>
        <p:txBody>
          <a:bodyPr wrap="square" lIns="0" tIns="0" rIns="0" bIns="0" rtlCol="0" anchor="ctr"/>
          <a:lstStyle/>
          <a:p>
            <a:pPr indent="0" marL="0">
              <a:buNone/>
            </a:pPr>
            <a:r>
              <a:rPr lang="en-US" sz="1250" b="1" dirty="0">
                <a:solidFill>
                  <a:srgbClr val="16214B"/>
                </a:solidFill>
                <a:latin typeface="Calibri" pitchFamily="34" charset="0"/>
                <a:ea typeface="Calibri" pitchFamily="34" charset="-122"/>
                <a:cs typeface="Calibri" pitchFamily="34" charset="-120"/>
              </a:rPr>
              <a:t>Limites observées des pratiques existantes</a:t>
            </a:r>
            <a:endParaRPr lang="en-US" sz="1250" dirty="0"/>
          </a:p>
        </p:txBody>
      </p:sp>
      <p:sp>
        <p:nvSpPr>
          <p:cNvPr id="6" name="Text 4"/>
          <p:cNvSpPr txBox="1"/>
          <p:nvPr/>
        </p:nvSpPr>
        <p:spPr>
          <a:xfrm>
            <a:off x="548640" y="3931920"/>
            <a:ext cx="5669280" cy="228600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1A1F2E"/>
                </a:solidFill>
                <a:latin typeface="Calibri" pitchFamily="34" charset="0"/>
                <a:ea typeface="Calibri" pitchFamily="34" charset="-122"/>
                <a:cs typeface="Calibri" pitchFamily="34" charset="-120"/>
              </a:rPr>
              <a:t>Données dispersées entre établissements et outils</a:t>
            </a:r>
            <a:endParaRPr lang="en-US" sz="1250" dirty="0"/>
          </a:p>
          <a:p>
            <a:pPr marL="177800" indent="-177800">
              <a:spcAft>
                <a:spcPts val="800"/>
              </a:spcAft>
              <a:buSzPct val="100000"/>
              <a:buChar char="•"/>
            </a:pPr>
            <a:r>
              <a:rPr lang="en-US" sz="1250" dirty="0">
                <a:solidFill>
                  <a:srgbClr val="1A1F2E"/>
                </a:solidFill>
                <a:latin typeface="Calibri" pitchFamily="34" charset="0"/>
                <a:ea typeface="Calibri" pitchFamily="34" charset="-122"/>
                <a:cs typeface="Calibri" pitchFamily="34" charset="-120"/>
              </a:rPr>
              <a:t>Aucune isolation claire entre les données de chaque école</a:t>
            </a:r>
            <a:endParaRPr lang="en-US" sz="1250" dirty="0"/>
          </a:p>
          <a:p>
            <a:pPr marL="177800" indent="-177800">
              <a:spcAft>
                <a:spcPts val="800"/>
              </a:spcAft>
              <a:buSzPct val="100000"/>
              <a:buChar char="•"/>
            </a:pPr>
            <a:r>
              <a:rPr lang="en-US" sz="1250" dirty="0">
                <a:solidFill>
                  <a:srgbClr val="1A1F2E"/>
                </a:solidFill>
                <a:latin typeface="Calibri" pitchFamily="34" charset="0"/>
                <a:ea typeface="Calibri" pitchFamily="34" charset="-122"/>
                <a:cs typeface="Calibri" pitchFamily="34" charset="-120"/>
              </a:rPr>
              <a:t>Calcul manuel des moyennes et bulletins, source d'erreurs</a:t>
            </a:r>
            <a:endParaRPr lang="en-US" sz="1250" dirty="0"/>
          </a:p>
          <a:p>
            <a:pPr marL="177800" indent="-177800">
              <a:spcAft>
                <a:spcPts val="800"/>
              </a:spcAft>
              <a:buSzPct val="100000"/>
              <a:buChar char="•"/>
            </a:pPr>
            <a:r>
              <a:rPr lang="en-US" sz="1250" dirty="0">
                <a:solidFill>
                  <a:srgbClr val="1A1F2E"/>
                </a:solidFill>
                <a:latin typeface="Calibri" pitchFamily="34" charset="0"/>
                <a:ea typeface="Calibri" pitchFamily="34" charset="-122"/>
                <a:cs typeface="Calibri" pitchFamily="34" charset="-120"/>
              </a:rPr>
              <a:t>Suivi des paiements de scolarité peu fiable</a:t>
            </a:r>
            <a:endParaRPr lang="en-US" sz="1250" dirty="0"/>
          </a:p>
          <a:p>
            <a:pPr marL="177800" indent="-177800">
              <a:spcAft>
                <a:spcPts val="800"/>
              </a:spcAft>
              <a:buSzPct val="100000"/>
              <a:buChar char="•"/>
            </a:pPr>
            <a:r>
              <a:rPr lang="en-US" sz="1250" dirty="0">
                <a:solidFill>
                  <a:srgbClr val="1A1F2E"/>
                </a:solidFill>
                <a:latin typeface="Calibri" pitchFamily="34" charset="0"/>
                <a:ea typeface="Calibri" pitchFamily="34" charset="-122"/>
                <a:cs typeface="Calibri" pitchFamily="34" charset="-120"/>
              </a:rPr>
              <a:t>Absence de traçabilité des actions administratives</a:t>
            </a:r>
            <a:endParaRPr lang="en-US" sz="1250" dirty="0"/>
          </a:p>
        </p:txBody>
      </p:sp>
      <p:sp>
        <p:nvSpPr>
          <p:cNvPr id="7" name="Shape 5"/>
          <p:cNvSpPr/>
          <p:nvPr/>
        </p:nvSpPr>
        <p:spPr>
          <a:xfrm>
            <a:off x="6583680" y="1554480"/>
            <a:ext cx="5029200" cy="4663440"/>
          </a:xfrm>
          <a:prstGeom prst="roundRect">
            <a:avLst>
              <a:gd name="adj" fmla="val 1961"/>
            </a:avLst>
          </a:prstGeom>
          <a:solidFill>
            <a:srgbClr val="0D142E"/>
          </a:solidFill>
          <a:ln/>
          <a:effectLst>
            <a:outerShdw sx="100000" sy="100000" kx="0" ky="0" algn="bl" rotWithShape="0" blurRad="127000" dist="38100" dir="5400000">
              <a:srgbClr val="0D142E">
                <a:alpha val="28000"/>
              </a:srgbClr>
            </a:outerShdw>
          </a:effectLst>
        </p:spPr>
      </p:sp>
      <p:sp>
        <p:nvSpPr>
          <p:cNvPr id="8" name="Text 6"/>
          <p:cNvSpPr txBox="1"/>
          <p:nvPr/>
        </p:nvSpPr>
        <p:spPr>
          <a:xfrm>
            <a:off x="6858000" y="1783080"/>
            <a:ext cx="44805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Avant  vs  Avec SMS</a:t>
            </a:r>
            <a:endParaRPr lang="en-US" sz="1500" dirty="0"/>
          </a:p>
        </p:txBody>
      </p:sp>
      <p:sp>
        <p:nvSpPr>
          <p:cNvPr id="9" name="Shape 7"/>
          <p:cNvSpPr/>
          <p:nvPr/>
        </p:nvSpPr>
        <p:spPr>
          <a:xfrm>
            <a:off x="6858000" y="2331720"/>
            <a:ext cx="4480560" cy="713232"/>
          </a:xfrm>
          <a:prstGeom prst="roundRect">
            <a:avLst>
              <a:gd name="adj" fmla="val 7692"/>
            </a:avLst>
          </a:prstGeom>
          <a:solidFill>
            <a:srgbClr val="1D2A5C"/>
          </a:solidFill>
          <a:ln/>
        </p:spPr>
      </p:sp>
      <p:sp>
        <p:nvSpPr>
          <p:cNvPr id="10" name="Text 8"/>
          <p:cNvSpPr txBox="1"/>
          <p:nvPr/>
        </p:nvSpPr>
        <p:spPr>
          <a:xfrm>
            <a:off x="6995160" y="2404872"/>
            <a:ext cx="4206240" cy="219456"/>
          </a:xfrm>
          <a:prstGeom prst="rect">
            <a:avLst/>
          </a:prstGeom>
          <a:noFill/>
          <a:ln/>
        </p:spPr>
        <p:txBody>
          <a:bodyPr wrap="square" lIns="0" tIns="0" rIns="0" bIns="0" rtlCol="0" anchor="ctr"/>
          <a:lstStyle/>
          <a:p>
            <a:pPr indent="0" marL="0">
              <a:buNone/>
            </a:pPr>
            <a:r>
              <a:rPr lang="en-US" sz="1100" b="1" dirty="0">
                <a:solidFill>
                  <a:srgbClr val="D9A62E"/>
                </a:solidFill>
                <a:latin typeface="Calibri" pitchFamily="34" charset="0"/>
                <a:ea typeface="Calibri" pitchFamily="34" charset="-122"/>
                <a:cs typeface="Calibri" pitchFamily="34" charset="-120"/>
              </a:rPr>
              <a:t>Multi-établissements</a:t>
            </a:r>
            <a:endParaRPr lang="en-US" sz="1100" dirty="0"/>
          </a:p>
        </p:txBody>
      </p:sp>
      <p:sp>
        <p:nvSpPr>
          <p:cNvPr id="11" name="Text 9"/>
          <p:cNvSpPr txBox="1"/>
          <p:nvPr/>
        </p:nvSpPr>
        <p:spPr>
          <a:xfrm>
            <a:off x="6995160" y="2642616"/>
            <a:ext cx="2103120" cy="329184"/>
          </a:xfrm>
          <a:prstGeom prst="rect">
            <a:avLst/>
          </a:prstGeom>
          <a:noFill/>
          <a:ln/>
        </p:spPr>
        <p:txBody>
          <a:bodyPr wrap="square" lIns="0" tIns="0" rIns="0" bIns="0" rtlCol="0" anchor="ctr"/>
          <a:lstStyle/>
          <a:p>
            <a:pPr indent="0" marL="0">
              <a:buNone/>
            </a:pPr>
            <a:r>
              <a:rPr lang="en-US" sz="1000" dirty="0">
                <a:solidFill>
                  <a:srgbClr val="C3CAE8"/>
                </a:solidFill>
                <a:latin typeface="Calibri" pitchFamily="34" charset="0"/>
                <a:ea typeface="Calibri" pitchFamily="34" charset="-122"/>
                <a:cs typeface="Calibri" pitchFamily="34" charset="-120"/>
              </a:rPr>
              <a:t>✗ Outils séparés</a:t>
            </a:r>
            <a:endParaRPr lang="en-US" sz="1000" dirty="0"/>
          </a:p>
        </p:txBody>
      </p:sp>
      <p:sp>
        <p:nvSpPr>
          <p:cNvPr id="12" name="Text 10"/>
          <p:cNvSpPr txBox="1"/>
          <p:nvPr/>
        </p:nvSpPr>
        <p:spPr>
          <a:xfrm>
            <a:off x="9098280" y="2642616"/>
            <a:ext cx="2103120" cy="329184"/>
          </a:xfrm>
          <a:prstGeom prst="rect">
            <a:avLst/>
          </a:prstGeom>
          <a:noFill/>
          <a:ln/>
        </p:spPr>
        <p:txBody>
          <a:bodyPr wrap="square" lIns="0" tIns="0" rIns="0" bIns="0" rtlCol="0" anchor="ctr"/>
          <a:lstStyle/>
          <a:p>
            <a:pPr indent="0" marL="0">
              <a:buNone/>
            </a:pPr>
            <a:r>
              <a:rPr lang="en-US" sz="1000" b="1" dirty="0">
                <a:solidFill>
                  <a:srgbClr val="8FE0B8"/>
                </a:solidFill>
                <a:latin typeface="Calibri" pitchFamily="34" charset="0"/>
                <a:ea typeface="Calibri" pitchFamily="34" charset="-122"/>
                <a:cs typeface="Calibri" pitchFamily="34" charset="-120"/>
              </a:rPr>
              <a:t>✓ Isolation par établissement</a:t>
            </a:r>
            <a:endParaRPr lang="en-US" sz="1000" dirty="0"/>
          </a:p>
        </p:txBody>
      </p:sp>
      <p:sp>
        <p:nvSpPr>
          <p:cNvPr id="13" name="Shape 11"/>
          <p:cNvSpPr/>
          <p:nvPr/>
        </p:nvSpPr>
        <p:spPr>
          <a:xfrm>
            <a:off x="6858000" y="3118104"/>
            <a:ext cx="4480560" cy="713232"/>
          </a:xfrm>
          <a:prstGeom prst="roundRect">
            <a:avLst>
              <a:gd name="adj" fmla="val 7692"/>
            </a:avLst>
          </a:prstGeom>
          <a:solidFill>
            <a:srgbClr val="1D2A5C"/>
          </a:solidFill>
          <a:ln/>
        </p:spPr>
      </p:sp>
      <p:sp>
        <p:nvSpPr>
          <p:cNvPr id="14" name="Text 12"/>
          <p:cNvSpPr txBox="1"/>
          <p:nvPr/>
        </p:nvSpPr>
        <p:spPr>
          <a:xfrm>
            <a:off x="6995160" y="3191256"/>
            <a:ext cx="4206240" cy="219456"/>
          </a:xfrm>
          <a:prstGeom prst="rect">
            <a:avLst/>
          </a:prstGeom>
          <a:noFill/>
          <a:ln/>
        </p:spPr>
        <p:txBody>
          <a:bodyPr wrap="square" lIns="0" tIns="0" rIns="0" bIns="0" rtlCol="0" anchor="ctr"/>
          <a:lstStyle/>
          <a:p>
            <a:pPr indent="0" marL="0">
              <a:buNone/>
            </a:pPr>
            <a:r>
              <a:rPr lang="en-US" sz="1100" b="1" dirty="0">
                <a:solidFill>
                  <a:srgbClr val="D9A62E"/>
                </a:solidFill>
                <a:latin typeface="Calibri" pitchFamily="34" charset="0"/>
                <a:ea typeface="Calibri" pitchFamily="34" charset="-122"/>
                <a:cs typeface="Calibri" pitchFamily="34" charset="-120"/>
              </a:rPr>
              <a:t>Bulletins</a:t>
            </a:r>
            <a:endParaRPr lang="en-US" sz="1100" dirty="0"/>
          </a:p>
        </p:txBody>
      </p:sp>
      <p:sp>
        <p:nvSpPr>
          <p:cNvPr id="15" name="Text 13"/>
          <p:cNvSpPr txBox="1"/>
          <p:nvPr/>
        </p:nvSpPr>
        <p:spPr>
          <a:xfrm>
            <a:off x="6995160" y="3429000"/>
            <a:ext cx="2103120" cy="329184"/>
          </a:xfrm>
          <a:prstGeom prst="rect">
            <a:avLst/>
          </a:prstGeom>
          <a:noFill/>
          <a:ln/>
        </p:spPr>
        <p:txBody>
          <a:bodyPr wrap="square" lIns="0" tIns="0" rIns="0" bIns="0" rtlCol="0" anchor="ctr"/>
          <a:lstStyle/>
          <a:p>
            <a:pPr indent="0" marL="0">
              <a:buNone/>
            </a:pPr>
            <a:r>
              <a:rPr lang="en-US" sz="1000" dirty="0">
                <a:solidFill>
                  <a:srgbClr val="C3CAE8"/>
                </a:solidFill>
                <a:latin typeface="Calibri" pitchFamily="34" charset="0"/>
                <a:ea typeface="Calibri" pitchFamily="34" charset="-122"/>
                <a:cs typeface="Calibri" pitchFamily="34" charset="-120"/>
              </a:rPr>
              <a:t>✗ Calcul manuel</a:t>
            </a:r>
            <a:endParaRPr lang="en-US" sz="1000" dirty="0"/>
          </a:p>
        </p:txBody>
      </p:sp>
      <p:sp>
        <p:nvSpPr>
          <p:cNvPr id="16" name="Text 14"/>
          <p:cNvSpPr txBox="1"/>
          <p:nvPr/>
        </p:nvSpPr>
        <p:spPr>
          <a:xfrm>
            <a:off x="9098280" y="3429000"/>
            <a:ext cx="2103120" cy="329184"/>
          </a:xfrm>
          <a:prstGeom prst="rect">
            <a:avLst/>
          </a:prstGeom>
          <a:noFill/>
          <a:ln/>
        </p:spPr>
        <p:txBody>
          <a:bodyPr wrap="square" lIns="0" tIns="0" rIns="0" bIns="0" rtlCol="0" anchor="ctr"/>
          <a:lstStyle/>
          <a:p>
            <a:pPr indent="0" marL="0">
              <a:buNone/>
            </a:pPr>
            <a:r>
              <a:rPr lang="en-US" sz="1000" b="1" dirty="0">
                <a:solidFill>
                  <a:srgbClr val="8FE0B8"/>
                </a:solidFill>
                <a:latin typeface="Calibri" pitchFamily="34" charset="0"/>
                <a:ea typeface="Calibri" pitchFamily="34" charset="-122"/>
                <a:cs typeface="Calibri" pitchFamily="34" charset="-120"/>
              </a:rPr>
              <a:t>✓ Moyennes générées automatiquement</a:t>
            </a:r>
            <a:endParaRPr lang="en-US" sz="1000" dirty="0"/>
          </a:p>
        </p:txBody>
      </p:sp>
      <p:sp>
        <p:nvSpPr>
          <p:cNvPr id="17" name="Shape 15"/>
          <p:cNvSpPr/>
          <p:nvPr/>
        </p:nvSpPr>
        <p:spPr>
          <a:xfrm>
            <a:off x="6858000" y="3904488"/>
            <a:ext cx="4480560" cy="713232"/>
          </a:xfrm>
          <a:prstGeom prst="roundRect">
            <a:avLst>
              <a:gd name="adj" fmla="val 7692"/>
            </a:avLst>
          </a:prstGeom>
          <a:solidFill>
            <a:srgbClr val="1D2A5C"/>
          </a:solidFill>
          <a:ln/>
        </p:spPr>
      </p:sp>
      <p:sp>
        <p:nvSpPr>
          <p:cNvPr id="18" name="Text 16"/>
          <p:cNvSpPr txBox="1"/>
          <p:nvPr/>
        </p:nvSpPr>
        <p:spPr>
          <a:xfrm>
            <a:off x="6995160" y="3977640"/>
            <a:ext cx="4206240" cy="219456"/>
          </a:xfrm>
          <a:prstGeom prst="rect">
            <a:avLst/>
          </a:prstGeom>
          <a:noFill/>
          <a:ln/>
        </p:spPr>
        <p:txBody>
          <a:bodyPr wrap="square" lIns="0" tIns="0" rIns="0" bIns="0" rtlCol="0" anchor="ctr"/>
          <a:lstStyle/>
          <a:p>
            <a:pPr indent="0" marL="0">
              <a:buNone/>
            </a:pPr>
            <a:r>
              <a:rPr lang="en-US" sz="1100" b="1" dirty="0">
                <a:solidFill>
                  <a:srgbClr val="D9A62E"/>
                </a:solidFill>
                <a:latin typeface="Calibri" pitchFamily="34" charset="0"/>
                <a:ea typeface="Calibri" pitchFamily="34" charset="-122"/>
                <a:cs typeface="Calibri" pitchFamily="34" charset="-120"/>
              </a:rPr>
              <a:t>Paiements</a:t>
            </a:r>
            <a:endParaRPr lang="en-US" sz="1100" dirty="0"/>
          </a:p>
        </p:txBody>
      </p:sp>
      <p:sp>
        <p:nvSpPr>
          <p:cNvPr id="19" name="Text 17"/>
          <p:cNvSpPr txBox="1"/>
          <p:nvPr/>
        </p:nvSpPr>
        <p:spPr>
          <a:xfrm>
            <a:off x="6995160" y="4215384"/>
            <a:ext cx="2103120" cy="329184"/>
          </a:xfrm>
          <a:prstGeom prst="rect">
            <a:avLst/>
          </a:prstGeom>
          <a:noFill/>
          <a:ln/>
        </p:spPr>
        <p:txBody>
          <a:bodyPr wrap="square" lIns="0" tIns="0" rIns="0" bIns="0" rtlCol="0" anchor="ctr"/>
          <a:lstStyle/>
          <a:p>
            <a:pPr indent="0" marL="0">
              <a:buNone/>
            </a:pPr>
            <a:r>
              <a:rPr lang="en-US" sz="1000" dirty="0">
                <a:solidFill>
                  <a:srgbClr val="C3CAE8"/>
                </a:solidFill>
                <a:latin typeface="Calibri" pitchFamily="34" charset="0"/>
                <a:ea typeface="Calibri" pitchFamily="34" charset="-122"/>
                <a:cs typeface="Calibri" pitchFamily="34" charset="-120"/>
              </a:rPr>
              <a:t>✗ Suivi papier</a:t>
            </a:r>
            <a:endParaRPr lang="en-US" sz="1000" dirty="0"/>
          </a:p>
        </p:txBody>
      </p:sp>
      <p:sp>
        <p:nvSpPr>
          <p:cNvPr id="20" name="Text 18"/>
          <p:cNvSpPr txBox="1"/>
          <p:nvPr/>
        </p:nvSpPr>
        <p:spPr>
          <a:xfrm>
            <a:off x="9098280" y="4215384"/>
            <a:ext cx="2103120" cy="329184"/>
          </a:xfrm>
          <a:prstGeom prst="rect">
            <a:avLst/>
          </a:prstGeom>
          <a:noFill/>
          <a:ln/>
        </p:spPr>
        <p:txBody>
          <a:bodyPr wrap="square" lIns="0" tIns="0" rIns="0" bIns="0" rtlCol="0" anchor="ctr"/>
          <a:lstStyle/>
          <a:p>
            <a:pPr indent="0" marL="0">
              <a:buNone/>
            </a:pPr>
            <a:r>
              <a:rPr lang="en-US" sz="1000" b="1" dirty="0">
                <a:solidFill>
                  <a:srgbClr val="8FE0B8"/>
                </a:solidFill>
                <a:latin typeface="Calibri" pitchFamily="34" charset="0"/>
                <a:ea typeface="Calibri" pitchFamily="34" charset="-122"/>
                <a:cs typeface="Calibri" pitchFamily="34" charset="-120"/>
              </a:rPr>
              <a:t>✓ Historique centralisé par élève</a:t>
            </a:r>
            <a:endParaRPr lang="en-US" sz="1000" dirty="0"/>
          </a:p>
        </p:txBody>
      </p:sp>
      <p:sp>
        <p:nvSpPr>
          <p:cNvPr id="21" name="Shape 19"/>
          <p:cNvSpPr/>
          <p:nvPr/>
        </p:nvSpPr>
        <p:spPr>
          <a:xfrm>
            <a:off x="6858000" y="4690872"/>
            <a:ext cx="4480560" cy="713232"/>
          </a:xfrm>
          <a:prstGeom prst="roundRect">
            <a:avLst>
              <a:gd name="adj" fmla="val 7692"/>
            </a:avLst>
          </a:prstGeom>
          <a:solidFill>
            <a:srgbClr val="1D2A5C"/>
          </a:solidFill>
          <a:ln/>
        </p:spPr>
      </p:sp>
      <p:sp>
        <p:nvSpPr>
          <p:cNvPr id="22" name="Text 20"/>
          <p:cNvSpPr txBox="1"/>
          <p:nvPr/>
        </p:nvSpPr>
        <p:spPr>
          <a:xfrm>
            <a:off x="6995160" y="4764024"/>
            <a:ext cx="4206240" cy="219456"/>
          </a:xfrm>
          <a:prstGeom prst="rect">
            <a:avLst/>
          </a:prstGeom>
          <a:noFill/>
          <a:ln/>
        </p:spPr>
        <p:txBody>
          <a:bodyPr wrap="square" lIns="0" tIns="0" rIns="0" bIns="0" rtlCol="0" anchor="ctr"/>
          <a:lstStyle/>
          <a:p>
            <a:pPr indent="0" marL="0">
              <a:buNone/>
            </a:pPr>
            <a:r>
              <a:rPr lang="en-US" sz="1100" b="1" dirty="0">
                <a:solidFill>
                  <a:srgbClr val="D9A62E"/>
                </a:solidFill>
                <a:latin typeface="Calibri" pitchFamily="34" charset="0"/>
                <a:ea typeface="Calibri" pitchFamily="34" charset="-122"/>
                <a:cs typeface="Calibri" pitchFamily="34" charset="-120"/>
              </a:rPr>
              <a:t>Actions sensibles</a:t>
            </a:r>
            <a:endParaRPr lang="en-US" sz="1100" dirty="0"/>
          </a:p>
        </p:txBody>
      </p:sp>
      <p:sp>
        <p:nvSpPr>
          <p:cNvPr id="23" name="Text 21"/>
          <p:cNvSpPr txBox="1"/>
          <p:nvPr/>
        </p:nvSpPr>
        <p:spPr>
          <a:xfrm>
            <a:off x="6995160" y="5001768"/>
            <a:ext cx="2103120" cy="329184"/>
          </a:xfrm>
          <a:prstGeom prst="rect">
            <a:avLst/>
          </a:prstGeom>
          <a:noFill/>
          <a:ln/>
        </p:spPr>
        <p:txBody>
          <a:bodyPr wrap="square" lIns="0" tIns="0" rIns="0" bIns="0" rtlCol="0" anchor="ctr"/>
          <a:lstStyle/>
          <a:p>
            <a:pPr indent="0" marL="0">
              <a:buNone/>
            </a:pPr>
            <a:r>
              <a:rPr lang="en-US" sz="1000" dirty="0">
                <a:solidFill>
                  <a:srgbClr val="C3CAE8"/>
                </a:solidFill>
                <a:latin typeface="Calibri" pitchFamily="34" charset="0"/>
                <a:ea typeface="Calibri" pitchFamily="34" charset="-122"/>
                <a:cs typeface="Calibri" pitchFamily="34" charset="-120"/>
              </a:rPr>
              <a:t>✗ Non tracées</a:t>
            </a:r>
            <a:endParaRPr lang="en-US" sz="1000" dirty="0"/>
          </a:p>
        </p:txBody>
      </p:sp>
      <p:sp>
        <p:nvSpPr>
          <p:cNvPr id="24" name="Text 22"/>
          <p:cNvSpPr txBox="1"/>
          <p:nvPr/>
        </p:nvSpPr>
        <p:spPr>
          <a:xfrm>
            <a:off x="9098280" y="5001768"/>
            <a:ext cx="2103120" cy="329184"/>
          </a:xfrm>
          <a:prstGeom prst="rect">
            <a:avLst/>
          </a:prstGeom>
          <a:noFill/>
          <a:ln/>
        </p:spPr>
        <p:txBody>
          <a:bodyPr wrap="square" lIns="0" tIns="0" rIns="0" bIns="0" rtlCol="0" anchor="ctr"/>
          <a:lstStyle/>
          <a:p>
            <a:pPr indent="0" marL="0">
              <a:buNone/>
            </a:pPr>
            <a:r>
              <a:rPr lang="en-US" sz="1000" b="1" dirty="0">
                <a:solidFill>
                  <a:srgbClr val="8FE0B8"/>
                </a:solidFill>
                <a:latin typeface="Calibri" pitchFamily="34" charset="0"/>
                <a:ea typeface="Calibri" pitchFamily="34" charset="-122"/>
                <a:cs typeface="Calibri" pitchFamily="34" charset="-120"/>
              </a:rPr>
              <a:t>✓ Journal d'audit horodaté</a:t>
            </a:r>
            <a:endParaRPr lang="en-US" sz="1000" dirty="0"/>
          </a:p>
        </p:txBody>
      </p:sp>
      <p:sp>
        <p:nvSpPr>
          <p:cNvPr id="25" name="Shape 23"/>
          <p:cNvSpPr/>
          <p:nvPr/>
        </p:nvSpPr>
        <p:spPr>
          <a:xfrm>
            <a:off x="6858000" y="5477256"/>
            <a:ext cx="4480560" cy="713232"/>
          </a:xfrm>
          <a:prstGeom prst="roundRect">
            <a:avLst>
              <a:gd name="adj" fmla="val 7692"/>
            </a:avLst>
          </a:prstGeom>
          <a:solidFill>
            <a:srgbClr val="1D2A5C"/>
          </a:solidFill>
          <a:ln/>
        </p:spPr>
      </p:sp>
      <p:sp>
        <p:nvSpPr>
          <p:cNvPr id="26" name="Text 24"/>
          <p:cNvSpPr txBox="1"/>
          <p:nvPr/>
        </p:nvSpPr>
        <p:spPr>
          <a:xfrm>
            <a:off x="6995160" y="5550408"/>
            <a:ext cx="4206240" cy="219456"/>
          </a:xfrm>
          <a:prstGeom prst="rect">
            <a:avLst/>
          </a:prstGeom>
          <a:noFill/>
          <a:ln/>
        </p:spPr>
        <p:txBody>
          <a:bodyPr wrap="square" lIns="0" tIns="0" rIns="0" bIns="0" rtlCol="0" anchor="ctr"/>
          <a:lstStyle/>
          <a:p>
            <a:pPr indent="0" marL="0">
              <a:buNone/>
            </a:pPr>
            <a:r>
              <a:rPr lang="en-US" sz="1100" b="1" dirty="0">
                <a:solidFill>
                  <a:srgbClr val="D9A62E"/>
                </a:solidFill>
                <a:latin typeface="Calibri" pitchFamily="34" charset="0"/>
                <a:ea typeface="Calibri" pitchFamily="34" charset="-122"/>
                <a:cs typeface="Calibri" pitchFamily="34" charset="-120"/>
              </a:rPr>
              <a:t>Accès aux données</a:t>
            </a:r>
            <a:endParaRPr lang="en-US" sz="1100" dirty="0"/>
          </a:p>
        </p:txBody>
      </p:sp>
      <p:sp>
        <p:nvSpPr>
          <p:cNvPr id="27" name="Text 25"/>
          <p:cNvSpPr txBox="1"/>
          <p:nvPr/>
        </p:nvSpPr>
        <p:spPr>
          <a:xfrm>
            <a:off x="6995160" y="5788152"/>
            <a:ext cx="2103120" cy="329184"/>
          </a:xfrm>
          <a:prstGeom prst="rect">
            <a:avLst/>
          </a:prstGeom>
          <a:noFill/>
          <a:ln/>
        </p:spPr>
        <p:txBody>
          <a:bodyPr wrap="square" lIns="0" tIns="0" rIns="0" bIns="0" rtlCol="0" anchor="ctr"/>
          <a:lstStyle/>
          <a:p>
            <a:pPr indent="0" marL="0">
              <a:buNone/>
            </a:pPr>
            <a:r>
              <a:rPr lang="en-US" sz="1000" dirty="0">
                <a:solidFill>
                  <a:srgbClr val="C3CAE8"/>
                </a:solidFill>
                <a:latin typeface="Calibri" pitchFamily="34" charset="0"/>
                <a:ea typeface="Calibri" pitchFamily="34" charset="-122"/>
                <a:cs typeface="Calibri" pitchFamily="34" charset="-120"/>
              </a:rPr>
              <a:t>✗ Peu contrôlé</a:t>
            </a:r>
            <a:endParaRPr lang="en-US" sz="1000" dirty="0"/>
          </a:p>
        </p:txBody>
      </p:sp>
      <p:sp>
        <p:nvSpPr>
          <p:cNvPr id="28" name="Text 26"/>
          <p:cNvSpPr txBox="1"/>
          <p:nvPr/>
        </p:nvSpPr>
        <p:spPr>
          <a:xfrm>
            <a:off x="9098280" y="5788152"/>
            <a:ext cx="2103120" cy="329184"/>
          </a:xfrm>
          <a:prstGeom prst="rect">
            <a:avLst/>
          </a:prstGeom>
          <a:noFill/>
          <a:ln/>
        </p:spPr>
        <p:txBody>
          <a:bodyPr wrap="square" lIns="0" tIns="0" rIns="0" bIns="0" rtlCol="0" anchor="ctr"/>
          <a:lstStyle/>
          <a:p>
            <a:pPr indent="0" marL="0">
              <a:buNone/>
            </a:pPr>
            <a:r>
              <a:rPr lang="en-US" sz="1000" b="1" dirty="0">
                <a:solidFill>
                  <a:srgbClr val="8FE0B8"/>
                </a:solidFill>
                <a:latin typeface="Calibri" pitchFamily="34" charset="0"/>
                <a:ea typeface="Calibri" pitchFamily="34" charset="-122"/>
                <a:cs typeface="Calibri" pitchFamily="34" charset="-120"/>
              </a:rPr>
              <a:t>✓ 7 rôles, permissions par module</a:t>
            </a:r>
            <a:endParaRPr lang="en-US" sz="1000" dirty="0"/>
          </a:p>
        </p:txBody>
      </p:sp>
      <p:sp>
        <p:nvSpPr>
          <p:cNvPr id="29" name="Text 27"/>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30" name="Text 28"/>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9EDF8"/>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02 · OBJECTIFS</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Ce que le stage devait livrer</a:t>
            </a:r>
            <a:endParaRPr lang="en-US" sz="3000" dirty="0"/>
          </a:p>
        </p:txBody>
      </p:sp>
      <p:sp>
        <p:nvSpPr>
          <p:cNvPr id="4" name="Shape 2"/>
          <p:cNvSpPr/>
          <p:nvPr/>
        </p:nvSpPr>
        <p:spPr>
          <a:xfrm>
            <a:off x="548640" y="1691640"/>
            <a:ext cx="3611880" cy="2148840"/>
          </a:xfrm>
          <a:prstGeom prst="roundRect">
            <a:avLst>
              <a:gd name="adj" fmla="val 4255"/>
            </a:avLst>
          </a:prstGeom>
          <a:solidFill>
            <a:srgbClr val="FFFFFF"/>
          </a:solidFill>
          <a:ln/>
          <a:effectLst>
            <a:outerShdw sx="100000" sy="100000" kx="0" ky="0" algn="bl" rotWithShape="0" blurRad="127000" dist="38100" dir="5400000">
              <a:srgbClr val="0D142E">
                <a:alpha val="28000"/>
              </a:srgbClr>
            </a:outerShdw>
          </a:effectLst>
        </p:spPr>
      </p:sp>
      <p:sp>
        <p:nvSpPr>
          <p:cNvPr id="5" name="Shape 3"/>
          <p:cNvSpPr/>
          <p:nvPr/>
        </p:nvSpPr>
        <p:spPr>
          <a:xfrm>
            <a:off x="804672" y="1947672"/>
            <a:ext cx="566928" cy="566928"/>
          </a:xfrm>
          <a:prstGeom prst="ellipse">
            <a:avLst/>
          </a:prstGeom>
          <a:solidFill>
            <a:srgbClr val="16214B"/>
          </a:solidFill>
          <a:ln/>
        </p:spPr>
      </p:sp>
      <p:pic>
        <p:nvPicPr>
          <p:cNvPr id="6" name="Image 0" descr="/tmp/work/icons/sms/building.png">    </p:cNvPr>
          <p:cNvPicPr>
            <a:picLocks noChangeAspect="1"/>
          </p:cNvPicPr>
          <p:nvPr/>
        </p:nvPicPr>
        <p:blipFill>
          <a:blip r:embed="rId1"/>
          <a:stretch>
            <a:fillRect/>
          </a:stretch>
        </p:blipFill>
        <p:spPr>
          <a:xfrm>
            <a:off x="940735" y="2083735"/>
            <a:ext cx="294803" cy="294803"/>
          </a:xfrm>
          <a:prstGeom prst="rect">
            <a:avLst/>
          </a:prstGeom>
        </p:spPr>
      </p:pic>
      <p:sp>
        <p:nvSpPr>
          <p:cNvPr id="7" name="Text 4"/>
          <p:cNvSpPr txBox="1"/>
          <p:nvPr/>
        </p:nvSpPr>
        <p:spPr>
          <a:xfrm>
            <a:off x="804672" y="2651760"/>
            <a:ext cx="3099816" cy="457200"/>
          </a:xfrm>
          <a:prstGeom prst="rect">
            <a:avLst/>
          </a:prstGeom>
          <a:noFill/>
          <a:ln/>
        </p:spPr>
        <p:txBody>
          <a:bodyPr wrap="square" lIns="0" tIns="0" rIns="0" bIns="0" rtlCol="0" anchor="ctr"/>
          <a:lstStyle/>
          <a:p>
            <a:pPr indent="0" marL="0">
              <a:buNone/>
            </a:pPr>
            <a:r>
              <a:rPr lang="en-US" sz="1350" b="1" dirty="0">
                <a:solidFill>
                  <a:srgbClr val="1A1F2E"/>
                </a:solidFill>
                <a:latin typeface="Calibri" pitchFamily="34" charset="0"/>
                <a:ea typeface="Calibri" pitchFamily="34" charset="-122"/>
                <a:cs typeface="Calibri" pitchFamily="34" charset="-120"/>
              </a:rPr>
              <a:t>Multi-établissements</a:t>
            </a:r>
            <a:endParaRPr lang="en-US" sz="1350" dirty="0"/>
          </a:p>
        </p:txBody>
      </p:sp>
      <p:sp>
        <p:nvSpPr>
          <p:cNvPr id="8" name="Text 5"/>
          <p:cNvSpPr txBox="1"/>
          <p:nvPr/>
        </p:nvSpPr>
        <p:spPr>
          <a:xfrm>
            <a:off x="804672" y="3063240"/>
            <a:ext cx="3099816" cy="685800"/>
          </a:xfrm>
          <a:prstGeom prst="rect">
            <a:avLst/>
          </a:prstGeom>
          <a:noFill/>
          <a:ln/>
        </p:spPr>
        <p:txBody>
          <a:bodyPr wrap="square" lIns="0" tIns="0" rIns="0" bIns="0"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Isolation stricte des données de chaque établissement (EtablissementFilterMixin).</a:t>
            </a:r>
            <a:endParaRPr lang="en-US" sz="1050" dirty="0"/>
          </a:p>
        </p:txBody>
      </p:sp>
      <p:sp>
        <p:nvSpPr>
          <p:cNvPr id="9" name="Shape 6"/>
          <p:cNvSpPr/>
          <p:nvPr/>
        </p:nvSpPr>
        <p:spPr>
          <a:xfrm>
            <a:off x="4416552" y="1691640"/>
            <a:ext cx="3611880" cy="2148840"/>
          </a:xfrm>
          <a:prstGeom prst="roundRect">
            <a:avLst>
              <a:gd name="adj" fmla="val 4255"/>
            </a:avLst>
          </a:prstGeom>
          <a:solidFill>
            <a:srgbClr val="FFFFFF"/>
          </a:solidFill>
          <a:ln/>
          <a:effectLst>
            <a:outerShdw sx="100000" sy="100000" kx="0" ky="0" algn="bl" rotWithShape="0" blurRad="127000" dist="38100" dir="5400000">
              <a:srgbClr val="0D142E">
                <a:alpha val="28000"/>
              </a:srgbClr>
            </a:outerShdw>
          </a:effectLst>
        </p:spPr>
      </p:sp>
      <p:sp>
        <p:nvSpPr>
          <p:cNvPr id="10" name="Shape 7"/>
          <p:cNvSpPr/>
          <p:nvPr/>
        </p:nvSpPr>
        <p:spPr>
          <a:xfrm>
            <a:off x="4672584" y="1947672"/>
            <a:ext cx="566928" cy="566928"/>
          </a:xfrm>
          <a:prstGeom prst="ellipse">
            <a:avLst/>
          </a:prstGeom>
          <a:solidFill>
            <a:srgbClr val="16214B"/>
          </a:solidFill>
          <a:ln/>
        </p:spPr>
      </p:sp>
      <p:pic>
        <p:nvPicPr>
          <p:cNvPr id="11" name="Image 1" descr="/tmp/work/icons/sms/gradcap.png">    </p:cNvPr>
          <p:cNvPicPr>
            <a:picLocks noChangeAspect="1"/>
          </p:cNvPicPr>
          <p:nvPr/>
        </p:nvPicPr>
        <p:blipFill>
          <a:blip r:embed="rId2"/>
          <a:stretch>
            <a:fillRect/>
          </a:stretch>
        </p:blipFill>
        <p:spPr>
          <a:xfrm>
            <a:off x="4808647" y="2083735"/>
            <a:ext cx="294803" cy="294803"/>
          </a:xfrm>
          <a:prstGeom prst="rect">
            <a:avLst/>
          </a:prstGeom>
        </p:spPr>
      </p:pic>
      <p:sp>
        <p:nvSpPr>
          <p:cNvPr id="12" name="Text 8"/>
          <p:cNvSpPr txBox="1"/>
          <p:nvPr/>
        </p:nvSpPr>
        <p:spPr>
          <a:xfrm>
            <a:off x="4672584" y="2651760"/>
            <a:ext cx="3099816" cy="457200"/>
          </a:xfrm>
          <a:prstGeom prst="rect">
            <a:avLst/>
          </a:prstGeom>
          <a:noFill/>
          <a:ln/>
        </p:spPr>
        <p:txBody>
          <a:bodyPr wrap="square" lIns="0" tIns="0" rIns="0" bIns="0" rtlCol="0" anchor="ctr"/>
          <a:lstStyle/>
          <a:p>
            <a:pPr indent="0" marL="0">
              <a:buNone/>
            </a:pPr>
            <a:r>
              <a:rPr lang="en-US" sz="1350" b="1" dirty="0">
                <a:solidFill>
                  <a:srgbClr val="1A1F2E"/>
                </a:solidFill>
                <a:latin typeface="Calibri" pitchFamily="34" charset="0"/>
                <a:ea typeface="Calibri" pitchFamily="34" charset="-122"/>
                <a:cs typeface="Calibri" pitchFamily="34" charset="-120"/>
              </a:rPr>
              <a:t>Scolarité &amp; notes</a:t>
            </a:r>
            <a:endParaRPr lang="en-US" sz="1350" dirty="0"/>
          </a:p>
        </p:txBody>
      </p:sp>
      <p:sp>
        <p:nvSpPr>
          <p:cNvPr id="13" name="Text 9"/>
          <p:cNvSpPr txBox="1"/>
          <p:nvPr/>
        </p:nvSpPr>
        <p:spPr>
          <a:xfrm>
            <a:off x="4672584" y="3063240"/>
            <a:ext cx="3099816" cy="685800"/>
          </a:xfrm>
          <a:prstGeom prst="rect">
            <a:avLst/>
          </a:prstGeom>
          <a:noFill/>
          <a:ln/>
        </p:spPr>
        <p:txBody>
          <a:bodyPr wrap="square" lIns="0" tIns="0" rIns="0" bIns="0"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Inscriptions, classes, évaluations, calcul des moyennes et bulletins.</a:t>
            </a:r>
            <a:endParaRPr lang="en-US" sz="1050" dirty="0"/>
          </a:p>
        </p:txBody>
      </p:sp>
      <p:sp>
        <p:nvSpPr>
          <p:cNvPr id="14" name="Shape 10"/>
          <p:cNvSpPr/>
          <p:nvPr/>
        </p:nvSpPr>
        <p:spPr>
          <a:xfrm>
            <a:off x="8284464" y="1691640"/>
            <a:ext cx="3611880" cy="2148840"/>
          </a:xfrm>
          <a:prstGeom prst="roundRect">
            <a:avLst>
              <a:gd name="adj" fmla="val 4255"/>
            </a:avLst>
          </a:prstGeom>
          <a:solidFill>
            <a:srgbClr val="FFFFFF"/>
          </a:solidFill>
          <a:ln/>
          <a:effectLst>
            <a:outerShdw sx="100000" sy="100000" kx="0" ky="0" algn="bl" rotWithShape="0" blurRad="127000" dist="38100" dir="5400000">
              <a:srgbClr val="0D142E">
                <a:alpha val="28000"/>
              </a:srgbClr>
            </a:outerShdw>
          </a:effectLst>
        </p:spPr>
      </p:sp>
      <p:sp>
        <p:nvSpPr>
          <p:cNvPr id="15" name="Shape 11"/>
          <p:cNvSpPr/>
          <p:nvPr/>
        </p:nvSpPr>
        <p:spPr>
          <a:xfrm>
            <a:off x="8540496" y="1947672"/>
            <a:ext cx="566928" cy="566928"/>
          </a:xfrm>
          <a:prstGeom prst="ellipse">
            <a:avLst/>
          </a:prstGeom>
          <a:solidFill>
            <a:srgbClr val="16214B"/>
          </a:solidFill>
          <a:ln/>
        </p:spPr>
      </p:sp>
      <p:pic>
        <p:nvPicPr>
          <p:cNvPr id="16" name="Image 2" descr="/tmp/work/icons/sms/moneybill.png">    </p:cNvPr>
          <p:cNvPicPr>
            <a:picLocks noChangeAspect="1"/>
          </p:cNvPicPr>
          <p:nvPr/>
        </p:nvPicPr>
        <p:blipFill>
          <a:blip r:embed="rId3"/>
          <a:stretch>
            <a:fillRect/>
          </a:stretch>
        </p:blipFill>
        <p:spPr>
          <a:xfrm>
            <a:off x="8676559" y="2083735"/>
            <a:ext cx="294803" cy="294803"/>
          </a:xfrm>
          <a:prstGeom prst="rect">
            <a:avLst/>
          </a:prstGeom>
        </p:spPr>
      </p:pic>
      <p:sp>
        <p:nvSpPr>
          <p:cNvPr id="17" name="Text 12"/>
          <p:cNvSpPr txBox="1"/>
          <p:nvPr/>
        </p:nvSpPr>
        <p:spPr>
          <a:xfrm>
            <a:off x="8540496" y="2651760"/>
            <a:ext cx="3099816" cy="457200"/>
          </a:xfrm>
          <a:prstGeom prst="rect">
            <a:avLst/>
          </a:prstGeom>
          <a:noFill/>
          <a:ln/>
        </p:spPr>
        <p:txBody>
          <a:bodyPr wrap="square" lIns="0" tIns="0" rIns="0" bIns="0" rtlCol="0" anchor="ctr"/>
          <a:lstStyle/>
          <a:p>
            <a:pPr indent="0" marL="0">
              <a:buNone/>
            </a:pPr>
            <a:r>
              <a:rPr lang="en-US" sz="1350" b="1" dirty="0">
                <a:solidFill>
                  <a:srgbClr val="1A1F2E"/>
                </a:solidFill>
                <a:latin typeface="Calibri" pitchFamily="34" charset="0"/>
                <a:ea typeface="Calibri" pitchFamily="34" charset="-122"/>
                <a:cs typeface="Calibri" pitchFamily="34" charset="-120"/>
              </a:rPr>
              <a:t>Paiements &amp; finances</a:t>
            </a:r>
            <a:endParaRPr lang="en-US" sz="1350" dirty="0"/>
          </a:p>
        </p:txBody>
      </p:sp>
      <p:sp>
        <p:nvSpPr>
          <p:cNvPr id="18" name="Text 13"/>
          <p:cNvSpPr txBox="1"/>
          <p:nvPr/>
        </p:nvSpPr>
        <p:spPr>
          <a:xfrm>
            <a:off x="8540496" y="3063240"/>
            <a:ext cx="3099816" cy="685800"/>
          </a:xfrm>
          <a:prstGeom prst="rect">
            <a:avLst/>
          </a:prstGeom>
          <a:noFill/>
          <a:ln/>
        </p:spPr>
        <p:txBody>
          <a:bodyPr wrap="square" lIns="0" tIns="0" rIns="0" bIns="0"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Suivi de la scolarité, factures, historique par élève.</a:t>
            </a:r>
            <a:endParaRPr lang="en-US" sz="1050" dirty="0"/>
          </a:p>
        </p:txBody>
      </p:sp>
      <p:sp>
        <p:nvSpPr>
          <p:cNvPr id="19" name="Shape 14"/>
          <p:cNvSpPr/>
          <p:nvPr/>
        </p:nvSpPr>
        <p:spPr>
          <a:xfrm>
            <a:off x="548640" y="4114800"/>
            <a:ext cx="3611880" cy="2148840"/>
          </a:xfrm>
          <a:prstGeom prst="roundRect">
            <a:avLst>
              <a:gd name="adj" fmla="val 4255"/>
            </a:avLst>
          </a:prstGeom>
          <a:solidFill>
            <a:srgbClr val="FFFFFF"/>
          </a:solidFill>
          <a:ln/>
          <a:effectLst>
            <a:outerShdw sx="100000" sy="100000" kx="0" ky="0" algn="bl" rotWithShape="0" blurRad="127000" dist="38100" dir="5400000">
              <a:srgbClr val="0D142E">
                <a:alpha val="28000"/>
              </a:srgbClr>
            </a:outerShdw>
          </a:effectLst>
        </p:spPr>
      </p:sp>
      <p:sp>
        <p:nvSpPr>
          <p:cNvPr id="20" name="Shape 15"/>
          <p:cNvSpPr/>
          <p:nvPr/>
        </p:nvSpPr>
        <p:spPr>
          <a:xfrm>
            <a:off x="804672" y="4370832"/>
            <a:ext cx="566928" cy="566928"/>
          </a:xfrm>
          <a:prstGeom prst="ellipse">
            <a:avLst/>
          </a:prstGeom>
          <a:solidFill>
            <a:srgbClr val="16214B"/>
          </a:solidFill>
          <a:ln/>
        </p:spPr>
      </p:sp>
      <p:pic>
        <p:nvPicPr>
          <p:cNvPr id="21" name="Image 3" descr="/tmp/work/icons/sms/usertie.png">    </p:cNvPr>
          <p:cNvPicPr>
            <a:picLocks noChangeAspect="1"/>
          </p:cNvPicPr>
          <p:nvPr/>
        </p:nvPicPr>
        <p:blipFill>
          <a:blip r:embed="rId4"/>
          <a:stretch>
            <a:fillRect/>
          </a:stretch>
        </p:blipFill>
        <p:spPr>
          <a:xfrm>
            <a:off x="940735" y="4506895"/>
            <a:ext cx="294803" cy="294803"/>
          </a:xfrm>
          <a:prstGeom prst="rect">
            <a:avLst/>
          </a:prstGeom>
        </p:spPr>
      </p:pic>
      <p:sp>
        <p:nvSpPr>
          <p:cNvPr id="22" name="Text 16"/>
          <p:cNvSpPr txBox="1"/>
          <p:nvPr/>
        </p:nvSpPr>
        <p:spPr>
          <a:xfrm>
            <a:off x="804672" y="5074920"/>
            <a:ext cx="3099816" cy="457200"/>
          </a:xfrm>
          <a:prstGeom prst="rect">
            <a:avLst/>
          </a:prstGeom>
          <a:noFill/>
          <a:ln/>
        </p:spPr>
        <p:txBody>
          <a:bodyPr wrap="square" lIns="0" tIns="0" rIns="0" bIns="0" rtlCol="0" anchor="ctr"/>
          <a:lstStyle/>
          <a:p>
            <a:pPr indent="0" marL="0">
              <a:buNone/>
            </a:pPr>
            <a:r>
              <a:rPr lang="en-US" sz="1350" b="1" dirty="0">
                <a:solidFill>
                  <a:srgbClr val="1A1F2E"/>
                </a:solidFill>
                <a:latin typeface="Calibri" pitchFamily="34" charset="0"/>
                <a:ea typeface="Calibri" pitchFamily="34" charset="-122"/>
                <a:cs typeface="Calibri" pitchFamily="34" charset="-120"/>
              </a:rPr>
              <a:t>Utilisateurs &amp; rôles</a:t>
            </a:r>
            <a:endParaRPr lang="en-US" sz="1350" dirty="0"/>
          </a:p>
        </p:txBody>
      </p:sp>
      <p:sp>
        <p:nvSpPr>
          <p:cNvPr id="23" name="Text 17"/>
          <p:cNvSpPr txBox="1"/>
          <p:nvPr/>
        </p:nvSpPr>
        <p:spPr>
          <a:xfrm>
            <a:off x="804672" y="5486400"/>
            <a:ext cx="3099816" cy="685800"/>
          </a:xfrm>
          <a:prstGeom prst="rect">
            <a:avLst/>
          </a:prstGeom>
          <a:noFill/>
          <a:ln/>
        </p:spPr>
        <p:txBody>
          <a:bodyPr wrap="square" lIns="0" tIns="0" rIns="0" bIns="0"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7 profils (admin, scolarité, enseignant, élève, comptable...).</a:t>
            </a:r>
            <a:endParaRPr lang="en-US" sz="1050" dirty="0"/>
          </a:p>
        </p:txBody>
      </p:sp>
      <p:sp>
        <p:nvSpPr>
          <p:cNvPr id="24" name="Shape 18"/>
          <p:cNvSpPr/>
          <p:nvPr/>
        </p:nvSpPr>
        <p:spPr>
          <a:xfrm>
            <a:off x="4416552" y="4114800"/>
            <a:ext cx="3611880" cy="2148840"/>
          </a:xfrm>
          <a:prstGeom prst="roundRect">
            <a:avLst>
              <a:gd name="adj" fmla="val 4255"/>
            </a:avLst>
          </a:prstGeom>
          <a:solidFill>
            <a:srgbClr val="FFFFFF"/>
          </a:solidFill>
          <a:ln/>
          <a:effectLst>
            <a:outerShdw sx="100000" sy="100000" kx="0" ky="0" algn="bl" rotWithShape="0" blurRad="127000" dist="38100" dir="5400000">
              <a:srgbClr val="0D142E">
                <a:alpha val="28000"/>
              </a:srgbClr>
            </a:outerShdw>
          </a:effectLst>
        </p:spPr>
      </p:sp>
      <p:sp>
        <p:nvSpPr>
          <p:cNvPr id="25" name="Shape 19"/>
          <p:cNvSpPr/>
          <p:nvPr/>
        </p:nvSpPr>
        <p:spPr>
          <a:xfrm>
            <a:off x="4672584" y="4370832"/>
            <a:ext cx="566928" cy="566928"/>
          </a:xfrm>
          <a:prstGeom prst="ellipse">
            <a:avLst/>
          </a:prstGeom>
          <a:solidFill>
            <a:srgbClr val="16214B"/>
          </a:solidFill>
          <a:ln/>
        </p:spPr>
      </p:sp>
      <p:pic>
        <p:nvPicPr>
          <p:cNvPr id="26" name="Image 4" descr="/tmp/work/icons/sms/calendar.png">    </p:cNvPr>
          <p:cNvPicPr>
            <a:picLocks noChangeAspect="1"/>
          </p:cNvPicPr>
          <p:nvPr/>
        </p:nvPicPr>
        <p:blipFill>
          <a:blip r:embed="rId5"/>
          <a:stretch>
            <a:fillRect/>
          </a:stretch>
        </p:blipFill>
        <p:spPr>
          <a:xfrm>
            <a:off x="4808647" y="4506895"/>
            <a:ext cx="294803" cy="294803"/>
          </a:xfrm>
          <a:prstGeom prst="rect">
            <a:avLst/>
          </a:prstGeom>
        </p:spPr>
      </p:pic>
      <p:sp>
        <p:nvSpPr>
          <p:cNvPr id="27" name="Text 20"/>
          <p:cNvSpPr txBox="1"/>
          <p:nvPr/>
        </p:nvSpPr>
        <p:spPr>
          <a:xfrm>
            <a:off x="4672584" y="5074920"/>
            <a:ext cx="3099816" cy="457200"/>
          </a:xfrm>
          <a:prstGeom prst="rect">
            <a:avLst/>
          </a:prstGeom>
          <a:noFill/>
          <a:ln/>
        </p:spPr>
        <p:txBody>
          <a:bodyPr wrap="square" lIns="0" tIns="0" rIns="0" bIns="0" rtlCol="0" anchor="ctr"/>
          <a:lstStyle/>
          <a:p>
            <a:pPr indent="0" marL="0">
              <a:buNone/>
            </a:pPr>
            <a:r>
              <a:rPr lang="en-US" sz="1350" b="1" dirty="0">
                <a:solidFill>
                  <a:srgbClr val="1A1F2E"/>
                </a:solidFill>
                <a:latin typeface="Calibri" pitchFamily="34" charset="0"/>
                <a:ea typeface="Calibri" pitchFamily="34" charset="-122"/>
                <a:cs typeface="Calibri" pitchFamily="34" charset="-120"/>
              </a:rPr>
              <a:t>Planning &amp; absences</a:t>
            </a:r>
            <a:endParaRPr lang="en-US" sz="1350" dirty="0"/>
          </a:p>
        </p:txBody>
      </p:sp>
      <p:sp>
        <p:nvSpPr>
          <p:cNvPr id="28" name="Text 21"/>
          <p:cNvSpPr txBox="1"/>
          <p:nvPr/>
        </p:nvSpPr>
        <p:spPr>
          <a:xfrm>
            <a:off x="4672584" y="5486400"/>
            <a:ext cx="3099816" cy="685800"/>
          </a:xfrm>
          <a:prstGeom prst="rect">
            <a:avLst/>
          </a:prstGeom>
          <a:noFill/>
          <a:ln/>
        </p:spPr>
        <p:txBody>
          <a:bodyPr wrap="square" lIns="0" tIns="0" rIns="0" bIns="0"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Emplois du temps, présence, notifications aux familles.</a:t>
            </a:r>
            <a:endParaRPr lang="en-US" sz="1050" dirty="0"/>
          </a:p>
        </p:txBody>
      </p:sp>
      <p:sp>
        <p:nvSpPr>
          <p:cNvPr id="29" name="Shape 22"/>
          <p:cNvSpPr/>
          <p:nvPr/>
        </p:nvSpPr>
        <p:spPr>
          <a:xfrm>
            <a:off x="8284464" y="4114800"/>
            <a:ext cx="3611880" cy="2148840"/>
          </a:xfrm>
          <a:prstGeom prst="roundRect">
            <a:avLst>
              <a:gd name="adj" fmla="val 4255"/>
            </a:avLst>
          </a:prstGeom>
          <a:solidFill>
            <a:srgbClr val="FFFFFF"/>
          </a:solidFill>
          <a:ln/>
          <a:effectLst>
            <a:outerShdw sx="100000" sy="100000" kx="0" ky="0" algn="bl" rotWithShape="0" blurRad="127000" dist="38100" dir="5400000">
              <a:srgbClr val="0D142E">
                <a:alpha val="28000"/>
              </a:srgbClr>
            </a:outerShdw>
          </a:effectLst>
        </p:spPr>
      </p:sp>
      <p:sp>
        <p:nvSpPr>
          <p:cNvPr id="30" name="Shape 23"/>
          <p:cNvSpPr/>
          <p:nvPr/>
        </p:nvSpPr>
        <p:spPr>
          <a:xfrm>
            <a:off x="8540496" y="4370832"/>
            <a:ext cx="566928" cy="566928"/>
          </a:xfrm>
          <a:prstGeom prst="ellipse">
            <a:avLst/>
          </a:prstGeom>
          <a:solidFill>
            <a:srgbClr val="16214B"/>
          </a:solidFill>
          <a:ln/>
        </p:spPr>
      </p:sp>
      <p:pic>
        <p:nvPicPr>
          <p:cNvPr id="31" name="Image 5" descr="/tmp/work/icons/sms/lock.png">    </p:cNvPr>
          <p:cNvPicPr>
            <a:picLocks noChangeAspect="1"/>
          </p:cNvPicPr>
          <p:nvPr/>
        </p:nvPicPr>
        <p:blipFill>
          <a:blip r:embed="rId6"/>
          <a:stretch>
            <a:fillRect/>
          </a:stretch>
        </p:blipFill>
        <p:spPr>
          <a:xfrm>
            <a:off x="8676559" y="4506895"/>
            <a:ext cx="294803" cy="294803"/>
          </a:xfrm>
          <a:prstGeom prst="rect">
            <a:avLst/>
          </a:prstGeom>
        </p:spPr>
      </p:pic>
      <p:sp>
        <p:nvSpPr>
          <p:cNvPr id="32" name="Text 24"/>
          <p:cNvSpPr txBox="1"/>
          <p:nvPr/>
        </p:nvSpPr>
        <p:spPr>
          <a:xfrm>
            <a:off x="8540496" y="5074920"/>
            <a:ext cx="3099816" cy="457200"/>
          </a:xfrm>
          <a:prstGeom prst="rect">
            <a:avLst/>
          </a:prstGeom>
          <a:noFill/>
          <a:ln/>
        </p:spPr>
        <p:txBody>
          <a:bodyPr wrap="square" lIns="0" tIns="0" rIns="0" bIns="0" rtlCol="0" anchor="ctr"/>
          <a:lstStyle/>
          <a:p>
            <a:pPr indent="0" marL="0">
              <a:buNone/>
            </a:pPr>
            <a:r>
              <a:rPr lang="en-US" sz="1350" b="1" dirty="0">
                <a:solidFill>
                  <a:srgbClr val="1A1F2E"/>
                </a:solidFill>
                <a:latin typeface="Calibri" pitchFamily="34" charset="0"/>
                <a:ea typeface="Calibri" pitchFamily="34" charset="-122"/>
                <a:cs typeface="Calibri" pitchFamily="34" charset="-120"/>
              </a:rPr>
              <a:t>Sécurité &amp; auditabilité</a:t>
            </a:r>
            <a:endParaRPr lang="en-US" sz="1350" dirty="0"/>
          </a:p>
        </p:txBody>
      </p:sp>
      <p:sp>
        <p:nvSpPr>
          <p:cNvPr id="33" name="Text 25"/>
          <p:cNvSpPr txBox="1"/>
          <p:nvPr/>
        </p:nvSpPr>
        <p:spPr>
          <a:xfrm>
            <a:off x="8540496" y="5486400"/>
            <a:ext cx="3099816" cy="685800"/>
          </a:xfrm>
          <a:prstGeom prst="rect">
            <a:avLst/>
          </a:prstGeom>
          <a:noFill/>
          <a:ln/>
        </p:spPr>
        <p:txBody>
          <a:bodyPr wrap="square" lIns="0" tIns="0" rIns="0" bIns="0"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Authentification JWT, journal d'audit des actions sensibles.</a:t>
            </a:r>
            <a:endParaRPr lang="en-US" sz="1050" dirty="0"/>
          </a:p>
        </p:txBody>
      </p:sp>
      <p:sp>
        <p:nvSpPr>
          <p:cNvPr id="34" name="Text 2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35" name="Text 2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03 · MÉTHODOLOGIE</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2TUP — une démarche en Y, guidée par UML</a:t>
            </a:r>
            <a:endParaRPr lang="en-US" sz="3000" dirty="0"/>
          </a:p>
        </p:txBody>
      </p:sp>
      <p:sp>
        <p:nvSpPr>
          <p:cNvPr id="4" name="Text 2"/>
          <p:cNvSpPr txBox="1"/>
          <p:nvPr/>
        </p:nvSpPr>
        <p:spPr>
          <a:xfrm>
            <a:off x="548640" y="1481328"/>
            <a:ext cx="11064240" cy="777240"/>
          </a:xfrm>
          <a:prstGeom prst="rect">
            <a:avLst/>
          </a:prstGeom>
          <a:noFill/>
          <a:ln/>
        </p:spPr>
        <p:txBody>
          <a:bodyPr wrap="square" lIns="0" tIns="0" rIns="0" bIns="0" rtlCol="0" anchor="ctr"/>
          <a:lstStyle/>
          <a:p>
            <a:pPr indent="0" marL="0">
              <a:lnSpc>
                <a:spcPct val="125000"/>
              </a:lnSpc>
              <a:buNone/>
            </a:pPr>
            <a:r>
              <a:rPr lang="en-US" sz="1300" dirty="0">
                <a:solidFill>
                  <a:srgbClr val="5B6478"/>
                </a:solidFill>
                <a:latin typeface="Calibri" pitchFamily="34" charset="0"/>
                <a:ea typeface="Calibri" pitchFamily="34" charset="-122"/>
                <a:cs typeface="Calibri" pitchFamily="34" charset="-120"/>
              </a:rPr>
              <a:t>Le développement a suivi le processus 2TUP (2 Track Unified Process) : une branche fonctionnelle (besoins métier, cas d'utilisation) et une branche technique (architecture, choix technologiques) convergent en une phase de conception puis de réalisation — formalisées par des diagrammes UML (cas d'utilisation, classes, séquence, activité).</a:t>
            </a:r>
            <a:endParaRPr lang="en-US" sz="1300" dirty="0"/>
          </a:p>
        </p:txBody>
      </p:sp>
      <p:sp>
        <p:nvSpPr>
          <p:cNvPr id="5" name="Shape 3"/>
          <p:cNvSpPr/>
          <p:nvPr/>
        </p:nvSpPr>
        <p:spPr>
          <a:xfrm>
            <a:off x="548640" y="2880360"/>
            <a:ext cx="1630680" cy="1188720"/>
          </a:xfrm>
          <a:prstGeom prst="roundRect">
            <a:avLst>
              <a:gd name="adj" fmla="val 5385"/>
            </a:avLst>
          </a:prstGeom>
          <a:solidFill>
            <a:srgbClr val="16214B"/>
          </a:solidFill>
          <a:ln/>
        </p:spPr>
      </p:sp>
      <p:sp>
        <p:nvSpPr>
          <p:cNvPr id="6" name="Text 4"/>
          <p:cNvSpPr txBox="1"/>
          <p:nvPr/>
        </p:nvSpPr>
        <p:spPr>
          <a:xfrm>
            <a:off x="603504" y="2880360"/>
            <a:ext cx="1520952" cy="1188720"/>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Capture</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des besoins</a:t>
            </a:r>
            <a:endParaRPr lang="en-US" sz="1000" dirty="0"/>
          </a:p>
        </p:txBody>
      </p:sp>
      <p:sp>
        <p:nvSpPr>
          <p:cNvPr id="7" name="Text 5"/>
          <p:cNvSpPr txBox="1"/>
          <p:nvPr/>
        </p:nvSpPr>
        <p:spPr>
          <a:xfrm>
            <a:off x="548640" y="2587752"/>
            <a:ext cx="1630680" cy="256032"/>
          </a:xfrm>
          <a:prstGeom prst="rect">
            <a:avLst/>
          </a:prstGeom>
          <a:noFill/>
          <a:ln/>
        </p:spPr>
        <p:txBody>
          <a:bodyPr wrap="square" lIns="0" tIns="0" rIns="0" bIns="0" rtlCol="0" anchor="ctr"/>
          <a:lstStyle/>
          <a:p>
            <a:pPr algn="ctr" indent="0" marL="0">
              <a:buNone/>
            </a:pPr>
            <a:r>
              <a:rPr lang="en-US" sz="1300" b="1" dirty="0">
                <a:solidFill>
                  <a:srgbClr val="D9A62E"/>
                </a:solidFill>
                <a:latin typeface="Cambria" pitchFamily="34" charset="0"/>
                <a:ea typeface="Cambria" pitchFamily="34" charset="-122"/>
                <a:cs typeface="Cambria" pitchFamily="34" charset="-120"/>
              </a:rPr>
              <a:t>1</a:t>
            </a:r>
            <a:endParaRPr lang="en-US" sz="1300" dirty="0"/>
          </a:p>
        </p:txBody>
      </p:sp>
      <p:sp>
        <p:nvSpPr>
          <p:cNvPr id="8" name="Shape 6"/>
          <p:cNvSpPr/>
          <p:nvPr/>
        </p:nvSpPr>
        <p:spPr>
          <a:xfrm>
            <a:off x="2179320" y="3401568"/>
            <a:ext cx="256032" cy="146304"/>
          </a:xfrm>
          <a:prstGeom prst="rightArrow">
            <a:avLst/>
          </a:prstGeom>
          <a:solidFill>
            <a:srgbClr val="D9A62E"/>
          </a:solidFill>
          <a:ln/>
        </p:spPr>
      </p:sp>
      <p:sp>
        <p:nvSpPr>
          <p:cNvPr id="9" name="Shape 7"/>
          <p:cNvSpPr/>
          <p:nvPr/>
        </p:nvSpPr>
        <p:spPr>
          <a:xfrm>
            <a:off x="2435352" y="2880360"/>
            <a:ext cx="1630680" cy="1188720"/>
          </a:xfrm>
          <a:prstGeom prst="roundRect">
            <a:avLst>
              <a:gd name="adj" fmla="val 5385"/>
            </a:avLst>
          </a:prstGeom>
          <a:solidFill>
            <a:srgbClr val="27356E"/>
          </a:solidFill>
          <a:ln/>
        </p:spPr>
      </p:sp>
      <p:sp>
        <p:nvSpPr>
          <p:cNvPr id="10" name="Text 8"/>
          <p:cNvSpPr txBox="1"/>
          <p:nvPr/>
        </p:nvSpPr>
        <p:spPr>
          <a:xfrm>
            <a:off x="2490216" y="2880360"/>
            <a:ext cx="1520952" cy="1188720"/>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Analyse</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&amp; conception</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préliminaire</a:t>
            </a:r>
            <a:endParaRPr lang="en-US" sz="1000" dirty="0"/>
          </a:p>
        </p:txBody>
      </p:sp>
      <p:sp>
        <p:nvSpPr>
          <p:cNvPr id="11" name="Text 9"/>
          <p:cNvSpPr txBox="1"/>
          <p:nvPr/>
        </p:nvSpPr>
        <p:spPr>
          <a:xfrm>
            <a:off x="2435352" y="2587752"/>
            <a:ext cx="1630680" cy="256032"/>
          </a:xfrm>
          <a:prstGeom prst="rect">
            <a:avLst/>
          </a:prstGeom>
          <a:noFill/>
          <a:ln/>
        </p:spPr>
        <p:txBody>
          <a:bodyPr wrap="square" lIns="0" tIns="0" rIns="0" bIns="0" rtlCol="0" anchor="ctr"/>
          <a:lstStyle/>
          <a:p>
            <a:pPr algn="ctr" indent="0" marL="0">
              <a:buNone/>
            </a:pPr>
            <a:r>
              <a:rPr lang="en-US" sz="1300" b="1" dirty="0">
                <a:solidFill>
                  <a:srgbClr val="D9A62E"/>
                </a:solidFill>
                <a:latin typeface="Cambria" pitchFamily="34" charset="0"/>
                <a:ea typeface="Cambria" pitchFamily="34" charset="-122"/>
                <a:cs typeface="Cambria" pitchFamily="34" charset="-120"/>
              </a:rPr>
              <a:t>2</a:t>
            </a:r>
            <a:endParaRPr lang="en-US" sz="1300" dirty="0"/>
          </a:p>
        </p:txBody>
      </p:sp>
      <p:sp>
        <p:nvSpPr>
          <p:cNvPr id="12" name="Shape 10"/>
          <p:cNvSpPr/>
          <p:nvPr/>
        </p:nvSpPr>
        <p:spPr>
          <a:xfrm>
            <a:off x="4066032" y="3401568"/>
            <a:ext cx="256032" cy="146304"/>
          </a:xfrm>
          <a:prstGeom prst="rightArrow">
            <a:avLst/>
          </a:prstGeom>
          <a:solidFill>
            <a:srgbClr val="D9A62E"/>
          </a:solidFill>
          <a:ln/>
        </p:spPr>
      </p:sp>
      <p:sp>
        <p:nvSpPr>
          <p:cNvPr id="13" name="Shape 11"/>
          <p:cNvSpPr/>
          <p:nvPr/>
        </p:nvSpPr>
        <p:spPr>
          <a:xfrm>
            <a:off x="4322064" y="2880360"/>
            <a:ext cx="1630680" cy="1188720"/>
          </a:xfrm>
          <a:prstGeom prst="roundRect">
            <a:avLst>
              <a:gd name="adj" fmla="val 5385"/>
            </a:avLst>
          </a:prstGeom>
          <a:solidFill>
            <a:srgbClr val="16214B"/>
          </a:solidFill>
          <a:ln/>
        </p:spPr>
      </p:sp>
      <p:sp>
        <p:nvSpPr>
          <p:cNvPr id="14" name="Text 12"/>
          <p:cNvSpPr txBox="1"/>
          <p:nvPr/>
        </p:nvSpPr>
        <p:spPr>
          <a:xfrm>
            <a:off x="4376928" y="2880360"/>
            <a:ext cx="1520952" cy="1188720"/>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Conception</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détaillée</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(UML)</a:t>
            </a:r>
            <a:endParaRPr lang="en-US" sz="1000" dirty="0"/>
          </a:p>
        </p:txBody>
      </p:sp>
      <p:sp>
        <p:nvSpPr>
          <p:cNvPr id="15" name="Text 13"/>
          <p:cNvSpPr txBox="1"/>
          <p:nvPr/>
        </p:nvSpPr>
        <p:spPr>
          <a:xfrm>
            <a:off x="4322064" y="2587752"/>
            <a:ext cx="1630680" cy="256032"/>
          </a:xfrm>
          <a:prstGeom prst="rect">
            <a:avLst/>
          </a:prstGeom>
          <a:noFill/>
          <a:ln/>
        </p:spPr>
        <p:txBody>
          <a:bodyPr wrap="square" lIns="0" tIns="0" rIns="0" bIns="0" rtlCol="0" anchor="ctr"/>
          <a:lstStyle/>
          <a:p>
            <a:pPr algn="ctr" indent="0" marL="0">
              <a:buNone/>
            </a:pPr>
            <a:r>
              <a:rPr lang="en-US" sz="1300" b="1" dirty="0">
                <a:solidFill>
                  <a:srgbClr val="D9A62E"/>
                </a:solidFill>
                <a:latin typeface="Cambria" pitchFamily="34" charset="0"/>
                <a:ea typeface="Cambria" pitchFamily="34" charset="-122"/>
                <a:cs typeface="Cambria" pitchFamily="34" charset="-120"/>
              </a:rPr>
              <a:t>3</a:t>
            </a:r>
            <a:endParaRPr lang="en-US" sz="1300" dirty="0"/>
          </a:p>
        </p:txBody>
      </p:sp>
      <p:sp>
        <p:nvSpPr>
          <p:cNvPr id="16" name="Shape 14"/>
          <p:cNvSpPr/>
          <p:nvPr/>
        </p:nvSpPr>
        <p:spPr>
          <a:xfrm>
            <a:off x="5952744" y="3401568"/>
            <a:ext cx="256032" cy="146304"/>
          </a:xfrm>
          <a:prstGeom prst="rightArrow">
            <a:avLst/>
          </a:prstGeom>
          <a:solidFill>
            <a:srgbClr val="D9A62E"/>
          </a:solidFill>
          <a:ln/>
        </p:spPr>
      </p:sp>
      <p:sp>
        <p:nvSpPr>
          <p:cNvPr id="17" name="Shape 15"/>
          <p:cNvSpPr/>
          <p:nvPr/>
        </p:nvSpPr>
        <p:spPr>
          <a:xfrm>
            <a:off x="6208776" y="2880360"/>
            <a:ext cx="1630680" cy="1188720"/>
          </a:xfrm>
          <a:prstGeom prst="roundRect">
            <a:avLst>
              <a:gd name="adj" fmla="val 5385"/>
            </a:avLst>
          </a:prstGeom>
          <a:solidFill>
            <a:srgbClr val="27356E"/>
          </a:solidFill>
          <a:ln/>
        </p:spPr>
      </p:sp>
      <p:sp>
        <p:nvSpPr>
          <p:cNvPr id="18" name="Text 16"/>
          <p:cNvSpPr txBox="1"/>
          <p:nvPr/>
        </p:nvSpPr>
        <p:spPr>
          <a:xfrm>
            <a:off x="6263640" y="2880360"/>
            <a:ext cx="1520952" cy="1188720"/>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Codage &amp;</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tests unitaires</a:t>
            </a:r>
            <a:endParaRPr lang="en-US" sz="1000" dirty="0"/>
          </a:p>
        </p:txBody>
      </p:sp>
      <p:sp>
        <p:nvSpPr>
          <p:cNvPr id="19" name="Text 17"/>
          <p:cNvSpPr txBox="1"/>
          <p:nvPr/>
        </p:nvSpPr>
        <p:spPr>
          <a:xfrm>
            <a:off x="6208776" y="2587752"/>
            <a:ext cx="1630680" cy="256032"/>
          </a:xfrm>
          <a:prstGeom prst="rect">
            <a:avLst/>
          </a:prstGeom>
          <a:noFill/>
          <a:ln/>
        </p:spPr>
        <p:txBody>
          <a:bodyPr wrap="square" lIns="0" tIns="0" rIns="0" bIns="0" rtlCol="0" anchor="ctr"/>
          <a:lstStyle/>
          <a:p>
            <a:pPr algn="ctr" indent="0" marL="0">
              <a:buNone/>
            </a:pPr>
            <a:r>
              <a:rPr lang="en-US" sz="1300" b="1" dirty="0">
                <a:solidFill>
                  <a:srgbClr val="D9A62E"/>
                </a:solidFill>
                <a:latin typeface="Cambria" pitchFamily="34" charset="0"/>
                <a:ea typeface="Cambria" pitchFamily="34" charset="-122"/>
                <a:cs typeface="Cambria" pitchFamily="34" charset="-120"/>
              </a:rPr>
              <a:t>4</a:t>
            </a:r>
            <a:endParaRPr lang="en-US" sz="1300" dirty="0"/>
          </a:p>
        </p:txBody>
      </p:sp>
      <p:sp>
        <p:nvSpPr>
          <p:cNvPr id="20" name="Shape 18"/>
          <p:cNvSpPr/>
          <p:nvPr/>
        </p:nvSpPr>
        <p:spPr>
          <a:xfrm>
            <a:off x="7839456" y="3401568"/>
            <a:ext cx="256032" cy="146304"/>
          </a:xfrm>
          <a:prstGeom prst="rightArrow">
            <a:avLst/>
          </a:prstGeom>
          <a:solidFill>
            <a:srgbClr val="D9A62E"/>
          </a:solidFill>
          <a:ln/>
        </p:spPr>
      </p:sp>
      <p:sp>
        <p:nvSpPr>
          <p:cNvPr id="21" name="Shape 19"/>
          <p:cNvSpPr/>
          <p:nvPr/>
        </p:nvSpPr>
        <p:spPr>
          <a:xfrm>
            <a:off x="8095488" y="2880360"/>
            <a:ext cx="1630680" cy="1188720"/>
          </a:xfrm>
          <a:prstGeom prst="roundRect">
            <a:avLst>
              <a:gd name="adj" fmla="val 5385"/>
            </a:avLst>
          </a:prstGeom>
          <a:solidFill>
            <a:srgbClr val="16214B"/>
          </a:solidFill>
          <a:ln/>
        </p:spPr>
      </p:sp>
      <p:sp>
        <p:nvSpPr>
          <p:cNvPr id="22" name="Text 20"/>
          <p:cNvSpPr txBox="1"/>
          <p:nvPr/>
        </p:nvSpPr>
        <p:spPr>
          <a:xfrm>
            <a:off x="8150352" y="2880360"/>
            <a:ext cx="1520952" cy="1188720"/>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Recette &amp;</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intégration</a:t>
            </a:r>
            <a:endParaRPr lang="en-US" sz="1000" dirty="0"/>
          </a:p>
        </p:txBody>
      </p:sp>
      <p:sp>
        <p:nvSpPr>
          <p:cNvPr id="23" name="Text 21"/>
          <p:cNvSpPr txBox="1"/>
          <p:nvPr/>
        </p:nvSpPr>
        <p:spPr>
          <a:xfrm>
            <a:off x="8095488" y="2587752"/>
            <a:ext cx="1630680" cy="256032"/>
          </a:xfrm>
          <a:prstGeom prst="rect">
            <a:avLst/>
          </a:prstGeom>
          <a:noFill/>
          <a:ln/>
        </p:spPr>
        <p:txBody>
          <a:bodyPr wrap="square" lIns="0" tIns="0" rIns="0" bIns="0" rtlCol="0" anchor="ctr"/>
          <a:lstStyle/>
          <a:p>
            <a:pPr algn="ctr" indent="0" marL="0">
              <a:buNone/>
            </a:pPr>
            <a:r>
              <a:rPr lang="en-US" sz="1300" b="1" dirty="0">
                <a:solidFill>
                  <a:srgbClr val="D9A62E"/>
                </a:solidFill>
                <a:latin typeface="Cambria" pitchFamily="34" charset="0"/>
                <a:ea typeface="Cambria" pitchFamily="34" charset="-122"/>
                <a:cs typeface="Cambria" pitchFamily="34" charset="-120"/>
              </a:rPr>
              <a:t>5</a:t>
            </a:r>
            <a:endParaRPr lang="en-US" sz="1300" dirty="0"/>
          </a:p>
        </p:txBody>
      </p:sp>
      <p:sp>
        <p:nvSpPr>
          <p:cNvPr id="24" name="Shape 22"/>
          <p:cNvSpPr/>
          <p:nvPr/>
        </p:nvSpPr>
        <p:spPr>
          <a:xfrm>
            <a:off x="9726168" y="3401568"/>
            <a:ext cx="256032" cy="146304"/>
          </a:xfrm>
          <a:prstGeom prst="rightArrow">
            <a:avLst/>
          </a:prstGeom>
          <a:solidFill>
            <a:srgbClr val="D9A62E"/>
          </a:solidFill>
          <a:ln/>
        </p:spPr>
      </p:sp>
      <p:sp>
        <p:nvSpPr>
          <p:cNvPr id="25" name="Shape 23"/>
          <p:cNvSpPr/>
          <p:nvPr/>
        </p:nvSpPr>
        <p:spPr>
          <a:xfrm>
            <a:off x="9982200" y="2880360"/>
            <a:ext cx="1630680" cy="1188720"/>
          </a:xfrm>
          <a:prstGeom prst="roundRect">
            <a:avLst>
              <a:gd name="adj" fmla="val 5385"/>
            </a:avLst>
          </a:prstGeom>
          <a:solidFill>
            <a:srgbClr val="27356E"/>
          </a:solidFill>
          <a:ln/>
        </p:spPr>
      </p:sp>
      <p:sp>
        <p:nvSpPr>
          <p:cNvPr id="26" name="Text 24"/>
          <p:cNvSpPr txBox="1"/>
          <p:nvPr/>
        </p:nvSpPr>
        <p:spPr>
          <a:xfrm>
            <a:off x="10037064" y="2880360"/>
            <a:ext cx="1520952" cy="1188720"/>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Déploiement</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&amp; documentation</a:t>
            </a:r>
            <a:endParaRPr lang="en-US" sz="1000" dirty="0"/>
          </a:p>
        </p:txBody>
      </p:sp>
      <p:sp>
        <p:nvSpPr>
          <p:cNvPr id="27" name="Text 25"/>
          <p:cNvSpPr txBox="1"/>
          <p:nvPr/>
        </p:nvSpPr>
        <p:spPr>
          <a:xfrm>
            <a:off x="9982200" y="2587752"/>
            <a:ext cx="1630680" cy="256032"/>
          </a:xfrm>
          <a:prstGeom prst="rect">
            <a:avLst/>
          </a:prstGeom>
          <a:noFill/>
          <a:ln/>
        </p:spPr>
        <p:txBody>
          <a:bodyPr wrap="square" lIns="0" tIns="0" rIns="0" bIns="0" rtlCol="0" anchor="ctr"/>
          <a:lstStyle/>
          <a:p>
            <a:pPr algn="ctr" indent="0" marL="0">
              <a:buNone/>
            </a:pPr>
            <a:r>
              <a:rPr lang="en-US" sz="1300" b="1" dirty="0">
                <a:solidFill>
                  <a:srgbClr val="D9A62E"/>
                </a:solidFill>
                <a:latin typeface="Cambria" pitchFamily="34" charset="0"/>
                <a:ea typeface="Cambria" pitchFamily="34" charset="-122"/>
                <a:cs typeface="Cambria" pitchFamily="34" charset="-120"/>
              </a:rPr>
              <a:t>6</a:t>
            </a:r>
            <a:endParaRPr lang="en-US" sz="1300" dirty="0"/>
          </a:p>
        </p:txBody>
      </p:sp>
      <p:sp>
        <p:nvSpPr>
          <p:cNvPr id="28" name="Shape 26"/>
          <p:cNvSpPr/>
          <p:nvPr/>
        </p:nvSpPr>
        <p:spPr>
          <a:xfrm>
            <a:off x="548640" y="4709160"/>
            <a:ext cx="3520440" cy="1417320"/>
          </a:xfrm>
          <a:prstGeom prst="roundRect">
            <a:avLst>
              <a:gd name="adj" fmla="val 5806"/>
            </a:avLst>
          </a:prstGeom>
          <a:solidFill>
            <a:srgbClr val="E9EDF8"/>
          </a:solidFill>
          <a:ln/>
        </p:spPr>
      </p:sp>
      <p:sp>
        <p:nvSpPr>
          <p:cNvPr id="29" name="Text 27"/>
          <p:cNvSpPr txBox="1"/>
          <p:nvPr/>
        </p:nvSpPr>
        <p:spPr>
          <a:xfrm>
            <a:off x="685800" y="4818888"/>
            <a:ext cx="3246120" cy="779526"/>
          </a:xfrm>
          <a:prstGeom prst="rect">
            <a:avLst/>
          </a:prstGeom>
          <a:noFill/>
          <a:ln/>
        </p:spPr>
        <p:txBody>
          <a:bodyPr wrap="square" lIns="0" tIns="0" rIns="0" bIns="0" rtlCol="0" anchor="b"/>
          <a:lstStyle/>
          <a:p>
            <a:pPr algn="l" indent="0" marL="0">
              <a:buNone/>
            </a:pPr>
            <a:r>
              <a:rPr lang="en-US" sz="2400" b="1" dirty="0">
                <a:solidFill>
                  <a:srgbClr val="16214B"/>
                </a:solidFill>
                <a:latin typeface="Cambria" pitchFamily="34" charset="0"/>
                <a:ea typeface="Cambria" pitchFamily="34" charset="-122"/>
                <a:cs typeface="Cambria" pitchFamily="34" charset="-120"/>
              </a:rPr>
              <a:t>4</a:t>
            </a:r>
            <a:endParaRPr lang="en-US" sz="2400" dirty="0"/>
          </a:p>
        </p:txBody>
      </p:sp>
      <p:sp>
        <p:nvSpPr>
          <p:cNvPr id="30" name="Text 28"/>
          <p:cNvSpPr txBox="1"/>
          <p:nvPr/>
        </p:nvSpPr>
        <p:spPr>
          <a:xfrm>
            <a:off x="685800" y="5531206"/>
            <a:ext cx="3246120" cy="538582"/>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diagrammes UML</a:t>
            </a:r>
            <a:endParaRPr lang="en-US" sz="1050" dirty="0"/>
          </a:p>
          <a:p>
            <a:pPr algn="l" indent="0" marL="0">
              <a:buNone/>
            </a:pPr>
            <a:r>
              <a:rPr lang="en-US" sz="1050" dirty="0">
                <a:solidFill>
                  <a:srgbClr val="5B6478"/>
                </a:solidFill>
                <a:latin typeface="Calibri" pitchFamily="34" charset="0"/>
                <a:ea typeface="Calibri" pitchFamily="34" charset="-122"/>
                <a:cs typeface="Calibri" pitchFamily="34" charset="-120"/>
              </a:rPr>
              <a:t>(cas d'utilisation, classes, séquence, activité)</a:t>
            </a:r>
            <a:endParaRPr lang="en-US" sz="1050" dirty="0"/>
          </a:p>
        </p:txBody>
      </p:sp>
      <p:sp>
        <p:nvSpPr>
          <p:cNvPr id="31" name="Shape 29"/>
          <p:cNvSpPr/>
          <p:nvPr/>
        </p:nvSpPr>
        <p:spPr>
          <a:xfrm>
            <a:off x="4297680" y="4709160"/>
            <a:ext cx="3520440" cy="1417320"/>
          </a:xfrm>
          <a:prstGeom prst="roundRect">
            <a:avLst>
              <a:gd name="adj" fmla="val 5806"/>
            </a:avLst>
          </a:prstGeom>
          <a:solidFill>
            <a:srgbClr val="E9EDF8"/>
          </a:solidFill>
          <a:ln/>
        </p:spPr>
      </p:sp>
      <p:sp>
        <p:nvSpPr>
          <p:cNvPr id="32" name="Text 30"/>
          <p:cNvSpPr txBox="1"/>
          <p:nvPr/>
        </p:nvSpPr>
        <p:spPr>
          <a:xfrm>
            <a:off x="4434840" y="4818888"/>
            <a:ext cx="3246120" cy="779526"/>
          </a:xfrm>
          <a:prstGeom prst="rect">
            <a:avLst/>
          </a:prstGeom>
          <a:noFill/>
          <a:ln/>
        </p:spPr>
        <p:txBody>
          <a:bodyPr wrap="square" lIns="0" tIns="0" rIns="0" bIns="0" rtlCol="0" anchor="b"/>
          <a:lstStyle/>
          <a:p>
            <a:pPr algn="l" indent="0" marL="0">
              <a:buNone/>
            </a:pPr>
            <a:r>
              <a:rPr lang="en-US" sz="2400" b="1" dirty="0">
                <a:solidFill>
                  <a:srgbClr val="16214B"/>
                </a:solidFill>
                <a:latin typeface="Cambria" pitchFamily="34" charset="0"/>
                <a:ea typeface="Cambria" pitchFamily="34" charset="-122"/>
                <a:cs typeface="Cambria" pitchFamily="34" charset="-120"/>
              </a:rPr>
              <a:t>2TUP</a:t>
            </a:r>
            <a:endParaRPr lang="en-US" sz="2400" dirty="0"/>
          </a:p>
        </p:txBody>
      </p:sp>
      <p:sp>
        <p:nvSpPr>
          <p:cNvPr id="33" name="Text 31"/>
          <p:cNvSpPr txBox="1"/>
          <p:nvPr/>
        </p:nvSpPr>
        <p:spPr>
          <a:xfrm>
            <a:off x="4434840" y="5531206"/>
            <a:ext cx="3246120" cy="538582"/>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conception en Y —</a:t>
            </a:r>
            <a:endParaRPr lang="en-US" sz="1050" dirty="0"/>
          </a:p>
          <a:p>
            <a:pPr algn="l" indent="0" marL="0">
              <a:buNone/>
            </a:pPr>
            <a:r>
              <a:rPr lang="en-US" sz="1050" dirty="0">
                <a:solidFill>
                  <a:srgbClr val="5B6478"/>
                </a:solidFill>
                <a:latin typeface="Calibri" pitchFamily="34" charset="0"/>
                <a:ea typeface="Calibri" pitchFamily="34" charset="-122"/>
                <a:cs typeface="Calibri" pitchFamily="34" charset="-120"/>
              </a:rPr>
              <a:t>fonctionnel + technique</a:t>
            </a:r>
            <a:endParaRPr lang="en-US" sz="1050" dirty="0"/>
          </a:p>
        </p:txBody>
      </p:sp>
      <p:sp>
        <p:nvSpPr>
          <p:cNvPr id="34" name="Shape 32"/>
          <p:cNvSpPr/>
          <p:nvPr/>
        </p:nvSpPr>
        <p:spPr>
          <a:xfrm>
            <a:off x="8046720" y="4709160"/>
            <a:ext cx="3520440" cy="1417320"/>
          </a:xfrm>
          <a:prstGeom prst="roundRect">
            <a:avLst>
              <a:gd name="adj" fmla="val 5806"/>
            </a:avLst>
          </a:prstGeom>
          <a:solidFill>
            <a:srgbClr val="E9EDF8"/>
          </a:solidFill>
          <a:ln/>
        </p:spPr>
      </p:sp>
      <p:sp>
        <p:nvSpPr>
          <p:cNvPr id="35" name="Text 33"/>
          <p:cNvSpPr txBox="1"/>
          <p:nvPr/>
        </p:nvSpPr>
        <p:spPr>
          <a:xfrm>
            <a:off x="8183880" y="4818888"/>
            <a:ext cx="3246120" cy="779526"/>
          </a:xfrm>
          <a:prstGeom prst="rect">
            <a:avLst/>
          </a:prstGeom>
          <a:noFill/>
          <a:ln/>
        </p:spPr>
        <p:txBody>
          <a:bodyPr wrap="square" lIns="0" tIns="0" rIns="0" bIns="0" rtlCol="0" anchor="b"/>
          <a:lstStyle/>
          <a:p>
            <a:pPr algn="l" indent="0" marL="0">
              <a:buNone/>
            </a:pPr>
            <a:r>
              <a:rPr lang="en-US" sz="2400" b="1" dirty="0">
                <a:solidFill>
                  <a:srgbClr val="16214B"/>
                </a:solidFill>
                <a:latin typeface="Cambria" pitchFamily="34" charset="0"/>
                <a:ea typeface="Cambria" pitchFamily="34" charset="-122"/>
                <a:cs typeface="Cambria" pitchFamily="34" charset="-120"/>
              </a:rPr>
              <a:t>85</a:t>
            </a:r>
            <a:endParaRPr lang="en-US" sz="2400" dirty="0"/>
          </a:p>
        </p:txBody>
      </p:sp>
      <p:sp>
        <p:nvSpPr>
          <p:cNvPr id="36" name="Text 34"/>
          <p:cNvSpPr txBox="1"/>
          <p:nvPr/>
        </p:nvSpPr>
        <p:spPr>
          <a:xfrm>
            <a:off x="8183880" y="5531206"/>
            <a:ext cx="3246120" cy="538582"/>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tests automatisés</a:t>
            </a:r>
            <a:endParaRPr lang="en-US" sz="1050" dirty="0"/>
          </a:p>
          <a:p>
            <a:pPr algn="l" indent="0" marL="0">
              <a:buNone/>
            </a:pPr>
            <a:r>
              <a:rPr lang="en-US" sz="1050" dirty="0">
                <a:solidFill>
                  <a:srgbClr val="5B6478"/>
                </a:solidFill>
                <a:latin typeface="Calibri" pitchFamily="34" charset="0"/>
                <a:ea typeface="Calibri" pitchFamily="34" charset="-122"/>
                <a:cs typeface="Calibri" pitchFamily="34" charset="-120"/>
              </a:rPr>
              <a:t>exécutés en fin de branche</a:t>
            </a:r>
            <a:endParaRPr lang="en-US" sz="1050" dirty="0"/>
          </a:p>
        </p:txBody>
      </p:sp>
      <p:sp>
        <p:nvSpPr>
          <p:cNvPr id="37" name="Text 35"/>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38" name="Text 36"/>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42E"/>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D9A62E"/>
                </a:solidFill>
                <a:latin typeface="Calibri" pitchFamily="34" charset="0"/>
                <a:ea typeface="Calibri" pitchFamily="34" charset="-122"/>
                <a:cs typeface="Calibri" pitchFamily="34" charset="-120"/>
              </a:rPr>
              <a:t>04 · ARCHITECTURE</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Une architecture client-serveur en 3 couches</a:t>
            </a:r>
            <a:endParaRPr lang="en-US" sz="3000" dirty="0"/>
          </a:p>
        </p:txBody>
      </p:sp>
      <p:sp>
        <p:nvSpPr>
          <p:cNvPr id="4" name="Shape 2"/>
          <p:cNvSpPr/>
          <p:nvPr/>
        </p:nvSpPr>
        <p:spPr>
          <a:xfrm>
            <a:off x="1280160" y="1600200"/>
            <a:ext cx="6400800" cy="658368"/>
          </a:xfrm>
          <a:prstGeom prst="roundRect">
            <a:avLst>
              <a:gd name="adj" fmla="val 11111"/>
            </a:avLst>
          </a:prstGeom>
          <a:solidFill>
            <a:srgbClr val="1D2A5C"/>
          </a:solidFill>
          <a:ln w="12700">
            <a:solidFill>
              <a:srgbClr val="3A488A"/>
            </a:solidFill>
            <a:prstDash val="solid"/>
          </a:ln>
        </p:spPr>
      </p:sp>
      <p:sp>
        <p:nvSpPr>
          <p:cNvPr id="5" name="Shape 3"/>
          <p:cNvSpPr/>
          <p:nvPr/>
        </p:nvSpPr>
        <p:spPr>
          <a:xfrm>
            <a:off x="1408176" y="1719072"/>
            <a:ext cx="420624" cy="420624"/>
          </a:xfrm>
          <a:prstGeom prst="ellipse">
            <a:avLst/>
          </a:prstGeom>
          <a:solidFill>
            <a:srgbClr val="16214B"/>
          </a:solidFill>
          <a:ln/>
        </p:spPr>
      </p:sp>
      <p:pic>
        <p:nvPicPr>
          <p:cNvPr id="6" name="Image 0" descr="/tmp/work/icons/sms/school.png">    </p:cNvPr>
          <p:cNvPicPr>
            <a:picLocks noChangeAspect="1"/>
          </p:cNvPicPr>
          <p:nvPr/>
        </p:nvPicPr>
        <p:blipFill>
          <a:blip r:embed="rId1"/>
          <a:stretch>
            <a:fillRect/>
          </a:stretch>
        </p:blipFill>
        <p:spPr>
          <a:xfrm>
            <a:off x="1502816" y="1813712"/>
            <a:ext cx="231343" cy="231343"/>
          </a:xfrm>
          <a:prstGeom prst="rect">
            <a:avLst/>
          </a:prstGeom>
        </p:spPr>
      </p:pic>
      <p:sp>
        <p:nvSpPr>
          <p:cNvPr id="7" name="Text 4"/>
          <p:cNvSpPr txBox="1"/>
          <p:nvPr/>
        </p:nvSpPr>
        <p:spPr>
          <a:xfrm>
            <a:off x="1965960" y="1600200"/>
            <a:ext cx="5577840" cy="65836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Navigateur — utilisateur final</a:t>
            </a:r>
            <a:endParaRPr lang="en-US" sz="1250" dirty="0"/>
          </a:p>
        </p:txBody>
      </p:sp>
      <p:sp>
        <p:nvSpPr>
          <p:cNvPr id="8" name="Shape 5"/>
          <p:cNvSpPr/>
          <p:nvPr/>
        </p:nvSpPr>
        <p:spPr>
          <a:xfrm rot="5400000">
            <a:off x="4379976" y="2258568"/>
            <a:ext cx="201168" cy="146304"/>
          </a:xfrm>
          <a:prstGeom prst="rightArrow">
            <a:avLst/>
          </a:prstGeom>
          <a:solidFill>
            <a:srgbClr val="D9A62E"/>
          </a:solidFill>
          <a:ln/>
        </p:spPr>
      </p:sp>
      <p:sp>
        <p:nvSpPr>
          <p:cNvPr id="9" name="Shape 6"/>
          <p:cNvSpPr/>
          <p:nvPr/>
        </p:nvSpPr>
        <p:spPr>
          <a:xfrm>
            <a:off x="1280160" y="2404872"/>
            <a:ext cx="6400800" cy="658368"/>
          </a:xfrm>
          <a:prstGeom prst="roundRect">
            <a:avLst>
              <a:gd name="adj" fmla="val 11111"/>
            </a:avLst>
          </a:prstGeom>
          <a:solidFill>
            <a:srgbClr val="1D2A5C"/>
          </a:solidFill>
          <a:ln w="12700">
            <a:solidFill>
              <a:srgbClr val="3A488A"/>
            </a:solidFill>
            <a:prstDash val="solid"/>
          </a:ln>
        </p:spPr>
      </p:sp>
      <p:sp>
        <p:nvSpPr>
          <p:cNvPr id="10" name="Shape 7"/>
          <p:cNvSpPr/>
          <p:nvPr/>
        </p:nvSpPr>
        <p:spPr>
          <a:xfrm>
            <a:off x="1408176" y="2523744"/>
            <a:ext cx="420624" cy="420624"/>
          </a:xfrm>
          <a:prstGeom prst="ellipse">
            <a:avLst/>
          </a:prstGeom>
          <a:solidFill>
            <a:srgbClr val="16214B"/>
          </a:solidFill>
          <a:ln/>
        </p:spPr>
      </p:sp>
      <p:pic>
        <p:nvPicPr>
          <p:cNvPr id="11" name="Image 1" descr="/tmp/work/icons/sms/sitemap.png">    </p:cNvPr>
          <p:cNvPicPr>
            <a:picLocks noChangeAspect="1"/>
          </p:cNvPicPr>
          <p:nvPr/>
        </p:nvPicPr>
        <p:blipFill>
          <a:blip r:embed="rId2"/>
          <a:stretch>
            <a:fillRect/>
          </a:stretch>
        </p:blipFill>
        <p:spPr>
          <a:xfrm>
            <a:off x="1502816" y="2618384"/>
            <a:ext cx="231343" cy="231343"/>
          </a:xfrm>
          <a:prstGeom prst="rect">
            <a:avLst/>
          </a:prstGeom>
        </p:spPr>
      </p:pic>
      <p:sp>
        <p:nvSpPr>
          <p:cNvPr id="12" name="Text 8"/>
          <p:cNvSpPr txBox="1"/>
          <p:nvPr/>
        </p:nvSpPr>
        <p:spPr>
          <a:xfrm>
            <a:off x="1965960" y="2404872"/>
            <a:ext cx="5577840" cy="65836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Frontend — React 18 + Vite + AdminLTE (SPA)</a:t>
            </a:r>
            <a:endParaRPr lang="en-US" sz="1250" dirty="0"/>
          </a:p>
        </p:txBody>
      </p:sp>
      <p:sp>
        <p:nvSpPr>
          <p:cNvPr id="13" name="Shape 9"/>
          <p:cNvSpPr/>
          <p:nvPr/>
        </p:nvSpPr>
        <p:spPr>
          <a:xfrm rot="5400000">
            <a:off x="4379976" y="3063240"/>
            <a:ext cx="201168" cy="146304"/>
          </a:xfrm>
          <a:prstGeom prst="rightArrow">
            <a:avLst/>
          </a:prstGeom>
          <a:solidFill>
            <a:srgbClr val="D9A62E"/>
          </a:solidFill>
          <a:ln/>
        </p:spPr>
      </p:sp>
      <p:sp>
        <p:nvSpPr>
          <p:cNvPr id="14" name="Shape 10"/>
          <p:cNvSpPr/>
          <p:nvPr/>
        </p:nvSpPr>
        <p:spPr>
          <a:xfrm>
            <a:off x="1280160" y="3209544"/>
            <a:ext cx="6400800" cy="658368"/>
          </a:xfrm>
          <a:prstGeom prst="roundRect">
            <a:avLst>
              <a:gd name="adj" fmla="val 11111"/>
            </a:avLst>
          </a:prstGeom>
          <a:solidFill>
            <a:srgbClr val="1D2A5C"/>
          </a:solidFill>
          <a:ln w="12700">
            <a:solidFill>
              <a:srgbClr val="3A488A"/>
            </a:solidFill>
            <a:prstDash val="solid"/>
          </a:ln>
        </p:spPr>
      </p:sp>
      <p:sp>
        <p:nvSpPr>
          <p:cNvPr id="15" name="Shape 11"/>
          <p:cNvSpPr/>
          <p:nvPr/>
        </p:nvSpPr>
        <p:spPr>
          <a:xfrm>
            <a:off x="1408176" y="3328416"/>
            <a:ext cx="420624" cy="420624"/>
          </a:xfrm>
          <a:prstGeom prst="ellipse">
            <a:avLst/>
          </a:prstGeom>
          <a:solidFill>
            <a:srgbClr val="16214B"/>
          </a:solidFill>
          <a:ln/>
        </p:spPr>
      </p:sp>
      <p:pic>
        <p:nvPicPr>
          <p:cNvPr id="16" name="Image 2" descr="/tmp/work/icons/sms/server.png">    </p:cNvPr>
          <p:cNvPicPr>
            <a:picLocks noChangeAspect="1"/>
          </p:cNvPicPr>
          <p:nvPr/>
        </p:nvPicPr>
        <p:blipFill>
          <a:blip r:embed="rId3"/>
          <a:stretch>
            <a:fillRect/>
          </a:stretch>
        </p:blipFill>
        <p:spPr>
          <a:xfrm>
            <a:off x="1502816" y="3423056"/>
            <a:ext cx="231343" cy="231343"/>
          </a:xfrm>
          <a:prstGeom prst="rect">
            <a:avLst/>
          </a:prstGeom>
        </p:spPr>
      </p:pic>
      <p:sp>
        <p:nvSpPr>
          <p:cNvPr id="17" name="Text 12"/>
          <p:cNvSpPr txBox="1"/>
          <p:nvPr/>
        </p:nvSpPr>
        <p:spPr>
          <a:xfrm>
            <a:off x="1965960" y="3209544"/>
            <a:ext cx="5577840" cy="65836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API REST — Django REST Framework, authentification JWT</a:t>
            </a:r>
            <a:endParaRPr lang="en-US" sz="1250" dirty="0"/>
          </a:p>
        </p:txBody>
      </p:sp>
      <p:sp>
        <p:nvSpPr>
          <p:cNvPr id="18" name="Shape 13"/>
          <p:cNvSpPr/>
          <p:nvPr/>
        </p:nvSpPr>
        <p:spPr>
          <a:xfrm rot="5400000">
            <a:off x="4379976" y="3867912"/>
            <a:ext cx="201168" cy="146304"/>
          </a:xfrm>
          <a:prstGeom prst="rightArrow">
            <a:avLst/>
          </a:prstGeom>
          <a:solidFill>
            <a:srgbClr val="D9A62E"/>
          </a:solidFill>
          <a:ln/>
        </p:spPr>
      </p:sp>
      <p:sp>
        <p:nvSpPr>
          <p:cNvPr id="19" name="Shape 14"/>
          <p:cNvSpPr/>
          <p:nvPr/>
        </p:nvSpPr>
        <p:spPr>
          <a:xfrm>
            <a:off x="1280160" y="4014216"/>
            <a:ext cx="6400800" cy="658368"/>
          </a:xfrm>
          <a:prstGeom prst="roundRect">
            <a:avLst>
              <a:gd name="adj" fmla="val 11111"/>
            </a:avLst>
          </a:prstGeom>
          <a:solidFill>
            <a:srgbClr val="1D2A5C"/>
          </a:solidFill>
          <a:ln w="12700">
            <a:solidFill>
              <a:srgbClr val="3A488A"/>
            </a:solidFill>
            <a:prstDash val="solid"/>
          </a:ln>
        </p:spPr>
      </p:sp>
      <p:sp>
        <p:nvSpPr>
          <p:cNvPr id="20" name="Shape 15"/>
          <p:cNvSpPr/>
          <p:nvPr/>
        </p:nvSpPr>
        <p:spPr>
          <a:xfrm>
            <a:off x="1408176" y="4133088"/>
            <a:ext cx="420624" cy="420624"/>
          </a:xfrm>
          <a:prstGeom prst="ellipse">
            <a:avLst/>
          </a:prstGeom>
          <a:solidFill>
            <a:srgbClr val="16214B"/>
          </a:solidFill>
          <a:ln/>
        </p:spPr>
      </p:sp>
      <p:pic>
        <p:nvPicPr>
          <p:cNvPr id="21" name="Image 3" descr="/tmp/work/icons/sms/database.png">    </p:cNvPr>
          <p:cNvPicPr>
            <a:picLocks noChangeAspect="1"/>
          </p:cNvPicPr>
          <p:nvPr/>
        </p:nvPicPr>
        <p:blipFill>
          <a:blip r:embed="rId4"/>
          <a:stretch>
            <a:fillRect/>
          </a:stretch>
        </p:blipFill>
        <p:spPr>
          <a:xfrm>
            <a:off x="1502816" y="4227728"/>
            <a:ext cx="231343" cy="231343"/>
          </a:xfrm>
          <a:prstGeom prst="rect">
            <a:avLst/>
          </a:prstGeom>
        </p:spPr>
      </p:pic>
      <p:sp>
        <p:nvSpPr>
          <p:cNvPr id="22" name="Text 16"/>
          <p:cNvSpPr txBox="1"/>
          <p:nvPr/>
        </p:nvSpPr>
        <p:spPr>
          <a:xfrm>
            <a:off x="1965960" y="4014216"/>
            <a:ext cx="5577840" cy="65836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Backend — Django 5.2 (61 modèles, logique métier, permissions)</a:t>
            </a:r>
            <a:endParaRPr lang="en-US" sz="1250" dirty="0"/>
          </a:p>
        </p:txBody>
      </p:sp>
      <p:sp>
        <p:nvSpPr>
          <p:cNvPr id="23" name="Shape 17"/>
          <p:cNvSpPr/>
          <p:nvPr/>
        </p:nvSpPr>
        <p:spPr>
          <a:xfrm rot="5400000">
            <a:off x="4379976" y="4672584"/>
            <a:ext cx="201168" cy="146304"/>
          </a:xfrm>
          <a:prstGeom prst="rightArrow">
            <a:avLst/>
          </a:prstGeom>
          <a:solidFill>
            <a:srgbClr val="D9A62E"/>
          </a:solidFill>
          <a:ln/>
        </p:spPr>
      </p:sp>
      <p:sp>
        <p:nvSpPr>
          <p:cNvPr id="24" name="Shape 18"/>
          <p:cNvSpPr/>
          <p:nvPr/>
        </p:nvSpPr>
        <p:spPr>
          <a:xfrm>
            <a:off x="1280160" y="4818888"/>
            <a:ext cx="6400800" cy="658368"/>
          </a:xfrm>
          <a:prstGeom prst="roundRect">
            <a:avLst>
              <a:gd name="adj" fmla="val 11111"/>
            </a:avLst>
          </a:prstGeom>
          <a:solidFill>
            <a:srgbClr val="1D2A5C"/>
          </a:solidFill>
          <a:ln w="12700">
            <a:solidFill>
              <a:srgbClr val="3A488A"/>
            </a:solidFill>
            <a:prstDash val="solid"/>
          </a:ln>
        </p:spPr>
      </p:sp>
      <p:sp>
        <p:nvSpPr>
          <p:cNvPr id="25" name="Shape 19"/>
          <p:cNvSpPr/>
          <p:nvPr/>
        </p:nvSpPr>
        <p:spPr>
          <a:xfrm>
            <a:off x="1408176" y="4937760"/>
            <a:ext cx="420624" cy="420624"/>
          </a:xfrm>
          <a:prstGeom prst="ellipse">
            <a:avLst/>
          </a:prstGeom>
          <a:solidFill>
            <a:srgbClr val="16214B"/>
          </a:solidFill>
          <a:ln/>
        </p:spPr>
      </p:sp>
      <p:pic>
        <p:nvPicPr>
          <p:cNvPr id="26" name="Image 4" descr="/tmp/work/icons/sms/layergroup.png">    </p:cNvPr>
          <p:cNvPicPr>
            <a:picLocks noChangeAspect="1"/>
          </p:cNvPicPr>
          <p:nvPr/>
        </p:nvPicPr>
        <p:blipFill>
          <a:blip r:embed="rId5"/>
          <a:stretch>
            <a:fillRect/>
          </a:stretch>
        </p:blipFill>
        <p:spPr>
          <a:xfrm>
            <a:off x="1502816" y="5032400"/>
            <a:ext cx="231343" cy="231343"/>
          </a:xfrm>
          <a:prstGeom prst="rect">
            <a:avLst/>
          </a:prstGeom>
        </p:spPr>
      </p:pic>
      <p:sp>
        <p:nvSpPr>
          <p:cNvPr id="27" name="Text 20"/>
          <p:cNvSpPr txBox="1"/>
          <p:nvPr/>
        </p:nvSpPr>
        <p:spPr>
          <a:xfrm>
            <a:off x="1965960" y="4818888"/>
            <a:ext cx="5577840" cy="65836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Base de données — MySQL 8, 60+ tables</a:t>
            </a:r>
            <a:endParaRPr lang="en-US" sz="1250" dirty="0"/>
          </a:p>
        </p:txBody>
      </p:sp>
      <p:sp>
        <p:nvSpPr>
          <p:cNvPr id="28" name="Text 21"/>
          <p:cNvSpPr txBox="1"/>
          <p:nvPr/>
        </p:nvSpPr>
        <p:spPr>
          <a:xfrm>
            <a:off x="8229600" y="1600200"/>
            <a:ext cx="3383280" cy="274320"/>
          </a:xfrm>
          <a:prstGeom prst="rect">
            <a:avLst/>
          </a:prstGeom>
          <a:noFill/>
          <a:ln/>
        </p:spPr>
        <p:txBody>
          <a:bodyPr wrap="square" lIns="0" tIns="0" rIns="0" bIns="0" rtlCol="0" anchor="ctr"/>
          <a:lstStyle/>
          <a:p>
            <a:pPr indent="0" marL="0">
              <a:buNone/>
            </a:pPr>
            <a:r>
              <a:rPr lang="en-US" sz="1250" b="1" dirty="0">
                <a:solidFill>
                  <a:srgbClr val="D9A62E"/>
                </a:solidFill>
                <a:latin typeface="Calibri" pitchFamily="34" charset="0"/>
                <a:ea typeface="Calibri" pitchFamily="34" charset="-122"/>
                <a:cs typeface="Calibri" pitchFamily="34" charset="-120"/>
              </a:rPr>
              <a:t>Pile technologique</a:t>
            </a:r>
            <a:endParaRPr lang="en-US" sz="1250" dirty="0"/>
          </a:p>
        </p:txBody>
      </p:sp>
      <p:sp>
        <p:nvSpPr>
          <p:cNvPr id="29" name="Shape 22"/>
          <p:cNvSpPr/>
          <p:nvPr/>
        </p:nvSpPr>
        <p:spPr>
          <a:xfrm>
            <a:off x="8229600" y="1965960"/>
            <a:ext cx="1060704" cy="402336"/>
          </a:xfrm>
          <a:prstGeom prst="roundRect">
            <a:avLst>
              <a:gd name="adj" fmla="val 50000"/>
            </a:avLst>
          </a:prstGeom>
          <a:solidFill>
            <a:srgbClr val="1D2A5C"/>
          </a:solidFill>
          <a:ln w="12700">
            <a:solidFill>
              <a:srgbClr val="27356E"/>
            </a:solidFill>
            <a:prstDash val="solid"/>
          </a:ln>
        </p:spPr>
      </p:sp>
      <p:sp>
        <p:nvSpPr>
          <p:cNvPr id="30" name="Text 23"/>
          <p:cNvSpPr txBox="1"/>
          <p:nvPr/>
        </p:nvSpPr>
        <p:spPr>
          <a:xfrm>
            <a:off x="8229600" y="1965960"/>
            <a:ext cx="1060704" cy="40233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React 18</a:t>
            </a:r>
            <a:endParaRPr lang="en-US" sz="1050" dirty="0"/>
          </a:p>
        </p:txBody>
      </p:sp>
      <p:sp>
        <p:nvSpPr>
          <p:cNvPr id="31" name="Shape 24"/>
          <p:cNvSpPr/>
          <p:nvPr/>
        </p:nvSpPr>
        <p:spPr>
          <a:xfrm>
            <a:off x="9418320" y="1965960"/>
            <a:ext cx="676656" cy="402336"/>
          </a:xfrm>
          <a:prstGeom prst="roundRect">
            <a:avLst>
              <a:gd name="adj" fmla="val 50000"/>
            </a:avLst>
          </a:prstGeom>
          <a:solidFill>
            <a:srgbClr val="1D2A5C"/>
          </a:solidFill>
          <a:ln w="12700">
            <a:solidFill>
              <a:srgbClr val="27356E"/>
            </a:solidFill>
            <a:prstDash val="solid"/>
          </a:ln>
        </p:spPr>
      </p:sp>
      <p:sp>
        <p:nvSpPr>
          <p:cNvPr id="32" name="Text 25"/>
          <p:cNvSpPr txBox="1"/>
          <p:nvPr/>
        </p:nvSpPr>
        <p:spPr>
          <a:xfrm>
            <a:off x="9418320" y="1965960"/>
            <a:ext cx="676656" cy="40233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Vite</a:t>
            </a:r>
            <a:endParaRPr lang="en-US" sz="1050" dirty="0"/>
          </a:p>
        </p:txBody>
      </p:sp>
      <p:sp>
        <p:nvSpPr>
          <p:cNvPr id="33" name="Shape 26"/>
          <p:cNvSpPr/>
          <p:nvPr/>
        </p:nvSpPr>
        <p:spPr>
          <a:xfrm>
            <a:off x="10222992" y="1965960"/>
            <a:ext cx="1060704" cy="402336"/>
          </a:xfrm>
          <a:prstGeom prst="roundRect">
            <a:avLst>
              <a:gd name="adj" fmla="val 50000"/>
            </a:avLst>
          </a:prstGeom>
          <a:solidFill>
            <a:srgbClr val="1D2A5C"/>
          </a:solidFill>
          <a:ln w="12700">
            <a:solidFill>
              <a:srgbClr val="27356E"/>
            </a:solidFill>
            <a:prstDash val="solid"/>
          </a:ln>
        </p:spPr>
      </p:sp>
      <p:sp>
        <p:nvSpPr>
          <p:cNvPr id="34" name="Text 27"/>
          <p:cNvSpPr txBox="1"/>
          <p:nvPr/>
        </p:nvSpPr>
        <p:spPr>
          <a:xfrm>
            <a:off x="10222992" y="1965960"/>
            <a:ext cx="1060704" cy="40233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AdminLTE</a:t>
            </a:r>
            <a:endParaRPr lang="en-US" sz="1050" dirty="0"/>
          </a:p>
        </p:txBody>
      </p:sp>
      <p:sp>
        <p:nvSpPr>
          <p:cNvPr id="35" name="Shape 28"/>
          <p:cNvSpPr/>
          <p:nvPr/>
        </p:nvSpPr>
        <p:spPr>
          <a:xfrm>
            <a:off x="8229600" y="2496312"/>
            <a:ext cx="1252728" cy="402336"/>
          </a:xfrm>
          <a:prstGeom prst="roundRect">
            <a:avLst>
              <a:gd name="adj" fmla="val 50000"/>
            </a:avLst>
          </a:prstGeom>
          <a:solidFill>
            <a:srgbClr val="1D2A5C"/>
          </a:solidFill>
          <a:ln w="12700">
            <a:solidFill>
              <a:srgbClr val="27356E"/>
            </a:solidFill>
            <a:prstDash val="solid"/>
          </a:ln>
        </p:spPr>
      </p:sp>
      <p:sp>
        <p:nvSpPr>
          <p:cNvPr id="36" name="Text 29"/>
          <p:cNvSpPr txBox="1"/>
          <p:nvPr/>
        </p:nvSpPr>
        <p:spPr>
          <a:xfrm>
            <a:off x="8229600" y="2496312"/>
            <a:ext cx="1252728" cy="40233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Django 5.2</a:t>
            </a:r>
            <a:endParaRPr lang="en-US" sz="1050" dirty="0"/>
          </a:p>
        </p:txBody>
      </p:sp>
      <p:sp>
        <p:nvSpPr>
          <p:cNvPr id="37" name="Shape 30"/>
          <p:cNvSpPr/>
          <p:nvPr/>
        </p:nvSpPr>
        <p:spPr>
          <a:xfrm>
            <a:off x="9610344" y="2496312"/>
            <a:ext cx="580644" cy="402336"/>
          </a:xfrm>
          <a:prstGeom prst="roundRect">
            <a:avLst>
              <a:gd name="adj" fmla="val 50000"/>
            </a:avLst>
          </a:prstGeom>
          <a:solidFill>
            <a:srgbClr val="1D2A5C"/>
          </a:solidFill>
          <a:ln w="12700">
            <a:solidFill>
              <a:srgbClr val="27356E"/>
            </a:solidFill>
            <a:prstDash val="solid"/>
          </a:ln>
        </p:spPr>
      </p:sp>
      <p:sp>
        <p:nvSpPr>
          <p:cNvPr id="38" name="Text 31"/>
          <p:cNvSpPr txBox="1"/>
          <p:nvPr/>
        </p:nvSpPr>
        <p:spPr>
          <a:xfrm>
            <a:off x="9610344" y="2496312"/>
            <a:ext cx="580644" cy="40233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DRF</a:t>
            </a:r>
            <a:endParaRPr lang="en-US" sz="1050" dirty="0"/>
          </a:p>
        </p:txBody>
      </p:sp>
      <p:sp>
        <p:nvSpPr>
          <p:cNvPr id="39" name="Shape 32"/>
          <p:cNvSpPr/>
          <p:nvPr/>
        </p:nvSpPr>
        <p:spPr>
          <a:xfrm>
            <a:off x="10319004" y="2496312"/>
            <a:ext cx="1156716" cy="402336"/>
          </a:xfrm>
          <a:prstGeom prst="roundRect">
            <a:avLst>
              <a:gd name="adj" fmla="val 50000"/>
            </a:avLst>
          </a:prstGeom>
          <a:solidFill>
            <a:srgbClr val="1D2A5C"/>
          </a:solidFill>
          <a:ln w="12700">
            <a:solidFill>
              <a:srgbClr val="27356E"/>
            </a:solidFill>
            <a:prstDash val="solid"/>
          </a:ln>
        </p:spPr>
      </p:sp>
      <p:sp>
        <p:nvSpPr>
          <p:cNvPr id="40" name="Text 33"/>
          <p:cNvSpPr txBox="1"/>
          <p:nvPr/>
        </p:nvSpPr>
        <p:spPr>
          <a:xfrm>
            <a:off x="10319004" y="2496312"/>
            <a:ext cx="1156716" cy="40233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SimpleJWT</a:t>
            </a:r>
            <a:endParaRPr lang="en-US" sz="1050" dirty="0"/>
          </a:p>
        </p:txBody>
      </p:sp>
      <p:sp>
        <p:nvSpPr>
          <p:cNvPr id="41" name="Shape 34"/>
          <p:cNvSpPr/>
          <p:nvPr/>
        </p:nvSpPr>
        <p:spPr>
          <a:xfrm>
            <a:off x="8229600" y="3026664"/>
            <a:ext cx="964692" cy="402336"/>
          </a:xfrm>
          <a:prstGeom prst="roundRect">
            <a:avLst>
              <a:gd name="adj" fmla="val 50000"/>
            </a:avLst>
          </a:prstGeom>
          <a:solidFill>
            <a:srgbClr val="1D2A5C"/>
          </a:solidFill>
          <a:ln w="12700">
            <a:solidFill>
              <a:srgbClr val="27356E"/>
            </a:solidFill>
            <a:prstDash val="solid"/>
          </a:ln>
        </p:spPr>
      </p:sp>
      <p:sp>
        <p:nvSpPr>
          <p:cNvPr id="42" name="Text 35"/>
          <p:cNvSpPr txBox="1"/>
          <p:nvPr/>
        </p:nvSpPr>
        <p:spPr>
          <a:xfrm>
            <a:off x="8229600" y="3026664"/>
            <a:ext cx="964692" cy="40233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MySQL 8</a:t>
            </a:r>
            <a:endParaRPr lang="en-US" sz="1050" dirty="0"/>
          </a:p>
        </p:txBody>
      </p:sp>
      <p:sp>
        <p:nvSpPr>
          <p:cNvPr id="43" name="Text 36"/>
          <p:cNvSpPr txBox="1"/>
          <p:nvPr/>
        </p:nvSpPr>
        <p:spPr>
          <a:xfrm>
            <a:off x="8229600" y="3749040"/>
            <a:ext cx="3383280" cy="1645920"/>
          </a:xfrm>
          <a:prstGeom prst="rect">
            <a:avLst/>
          </a:prstGeom>
          <a:noFill/>
          <a:ln/>
        </p:spPr>
        <p:txBody>
          <a:bodyPr wrap="square" lIns="0" tIns="0" rIns="0" bIns="0" rtlCol="0" anchor="ctr"/>
          <a:lstStyle/>
          <a:p>
            <a:pPr indent="0" marL="0">
              <a:lnSpc>
                <a:spcPct val="125000"/>
              </a:lnSpc>
              <a:buNone/>
            </a:pPr>
            <a:r>
              <a:rPr lang="en-US" sz="1050" i="1" dirty="0">
                <a:solidFill>
                  <a:srgbClr val="B9C2EA"/>
                </a:solidFill>
                <a:latin typeface="Calibri" pitchFamily="34" charset="0"/>
                <a:ea typeface="Calibri" pitchFamily="34" charset="-122"/>
                <a:cs typeface="Calibri" pitchFamily="34" charset="-120"/>
              </a:rPr>
              <a:t>Isolation multi-établissements : un mixin (EtablissementFilterMixin) filtre systématiquement chaque requête API par l'établissement de l'utilisateur connecté.</a:t>
            </a:r>
            <a:endParaRPr lang="en-US" sz="1050" dirty="0"/>
          </a:p>
        </p:txBody>
      </p:sp>
      <p:sp>
        <p:nvSpPr>
          <p:cNvPr id="44" name="Text 37"/>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45" name="Text 38"/>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04 · CONCEPTION</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Modélisation &amp; base de données</a:t>
            </a:r>
            <a:endParaRPr lang="en-US" sz="3000" dirty="0"/>
          </a:p>
        </p:txBody>
      </p:sp>
      <p:sp>
        <p:nvSpPr>
          <p:cNvPr id="4" name="Shape 2"/>
          <p:cNvSpPr/>
          <p:nvPr/>
        </p:nvSpPr>
        <p:spPr>
          <a:xfrm>
            <a:off x="475488" y="1618488"/>
            <a:ext cx="3315070" cy="4489704"/>
          </a:xfrm>
          <a:prstGeom prst="roundRect">
            <a:avLst>
              <a:gd name="adj" fmla="val 1655"/>
            </a:avLst>
          </a:prstGeom>
          <a:solidFill>
            <a:srgbClr val="FFFFFF"/>
          </a:solidFill>
          <a:ln w="12700">
            <a:solidFill>
              <a:srgbClr val="DCE2F0"/>
            </a:solidFill>
            <a:prstDash val="solid"/>
          </a:ln>
          <a:effectLst>
            <a:outerShdw sx="100000" sy="100000" kx="0" ky="0" algn="bl" rotWithShape="0" blurRad="127000" dist="38100" dir="5400000">
              <a:srgbClr val="0D142E">
                <a:alpha val="28000"/>
              </a:srgbClr>
            </a:outerShdw>
          </a:effectLst>
        </p:spPr>
      </p:sp>
      <p:pic>
        <p:nvPicPr>
          <p:cNvPr id="5" name="Image 0" descr="/mnt/user-data/uploads/Projet SMS/docs/schema_bdd_sms.png">    </p:cNvPr>
          <p:cNvPicPr>
            <a:picLocks noChangeAspect="1"/>
          </p:cNvPicPr>
          <p:nvPr/>
        </p:nvPicPr>
        <p:blipFill>
          <a:blip r:embed="rId1"/>
          <a:stretch>
            <a:fillRect/>
          </a:stretch>
        </p:blipFill>
        <p:spPr>
          <a:xfrm>
            <a:off x="548640" y="1691640"/>
            <a:ext cx="3168766" cy="4343400"/>
          </a:xfrm>
          <a:prstGeom prst="rect">
            <a:avLst/>
          </a:prstGeom>
        </p:spPr>
      </p:pic>
      <p:sp>
        <p:nvSpPr>
          <p:cNvPr id="6" name="Text 3"/>
          <p:cNvSpPr txBox="1"/>
          <p:nvPr/>
        </p:nvSpPr>
        <p:spPr>
          <a:xfrm>
            <a:off x="548640" y="6144768"/>
            <a:ext cx="3168766" cy="274320"/>
          </a:xfrm>
          <a:prstGeom prst="rect">
            <a:avLst/>
          </a:prstGeom>
          <a:noFill/>
          <a:ln/>
        </p:spPr>
        <p:txBody>
          <a:bodyPr wrap="square" lIns="0" tIns="0" rIns="0" bIns="0"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Schéma relationnel complet — 60+ tables</a:t>
            </a:r>
            <a:endParaRPr lang="en-US" sz="950" dirty="0"/>
          </a:p>
        </p:txBody>
      </p:sp>
      <p:sp>
        <p:nvSpPr>
          <p:cNvPr id="7" name="Text 4"/>
          <p:cNvSpPr txBox="1"/>
          <p:nvPr/>
        </p:nvSpPr>
        <p:spPr>
          <a:xfrm>
            <a:off x="4174606" y="1691640"/>
            <a:ext cx="7438274" cy="1051560"/>
          </a:xfrm>
          <a:prstGeom prst="rect">
            <a:avLst/>
          </a:prstGeom>
          <a:noFill/>
          <a:ln/>
        </p:spPr>
        <p:txBody>
          <a:bodyPr wrap="square" lIns="0" tIns="0" rIns="0" bIns="0" rtlCol="0" anchor="ctr"/>
          <a:lstStyle/>
          <a:p>
            <a:pPr indent="0" marL="0">
              <a:lnSpc>
                <a:spcPct val="125000"/>
              </a:lnSpc>
              <a:buNone/>
            </a:pPr>
            <a:r>
              <a:rPr lang="en-US" sz="1200" dirty="0">
                <a:solidFill>
                  <a:srgbClr val="1A1F2E"/>
                </a:solidFill>
                <a:latin typeface="Calibri" pitchFamily="34" charset="0"/>
                <a:ea typeface="Calibri" pitchFamily="34" charset="-122"/>
                <a:cs typeface="Calibri" pitchFamily="34" charset="-120"/>
              </a:rPr>
              <a:t>61 modèles Django, organisés en 12 domaines fonctionnels : établissements, utilisateurs, scolarité, notes, examens, planning, absences, paiements, communication, documents, paramétrage, audit.</a:t>
            </a:r>
            <a:endParaRPr lang="en-US" sz="1200" dirty="0"/>
          </a:p>
        </p:txBody>
      </p:sp>
      <p:sp>
        <p:nvSpPr>
          <p:cNvPr id="8" name="Shape 5"/>
          <p:cNvSpPr/>
          <p:nvPr/>
        </p:nvSpPr>
        <p:spPr>
          <a:xfrm>
            <a:off x="4174606" y="2880360"/>
            <a:ext cx="7438274" cy="1005840"/>
          </a:xfrm>
          <a:prstGeom prst="roundRect">
            <a:avLst>
              <a:gd name="adj" fmla="val 7273"/>
            </a:avLst>
          </a:prstGeom>
          <a:solidFill>
            <a:srgbClr val="E9EDF8"/>
          </a:solidFill>
          <a:ln/>
        </p:spPr>
      </p:sp>
      <p:sp>
        <p:nvSpPr>
          <p:cNvPr id="9" name="Text 6"/>
          <p:cNvSpPr txBox="1"/>
          <p:nvPr/>
        </p:nvSpPr>
        <p:spPr>
          <a:xfrm>
            <a:off x="4357486" y="2971800"/>
            <a:ext cx="7072514" cy="274320"/>
          </a:xfrm>
          <a:prstGeom prst="rect">
            <a:avLst/>
          </a:prstGeom>
          <a:noFill/>
          <a:ln/>
        </p:spPr>
        <p:txBody>
          <a:bodyPr wrap="square" lIns="0" tIns="0" rIns="0" bIns="0" rtlCol="0" anchor="ctr"/>
          <a:lstStyle/>
          <a:p>
            <a:pPr indent="0" marL="0">
              <a:buNone/>
            </a:pPr>
            <a:r>
              <a:rPr lang="en-US" sz="1150" b="1" dirty="0">
                <a:solidFill>
                  <a:srgbClr val="16214B"/>
                </a:solidFill>
                <a:latin typeface="Calibri" pitchFamily="34" charset="0"/>
                <a:ea typeface="Calibri" pitchFamily="34" charset="-122"/>
                <a:cs typeface="Calibri" pitchFamily="34" charset="-120"/>
              </a:rPr>
              <a:t>Isolation par établissement</a:t>
            </a:r>
            <a:endParaRPr lang="en-US" sz="1150" dirty="0"/>
          </a:p>
        </p:txBody>
      </p:sp>
      <p:sp>
        <p:nvSpPr>
          <p:cNvPr id="10" name="Text 7"/>
          <p:cNvSpPr txBox="1"/>
          <p:nvPr/>
        </p:nvSpPr>
        <p:spPr>
          <a:xfrm>
            <a:off x="4357486" y="3264408"/>
            <a:ext cx="7072514" cy="566928"/>
          </a:xfrm>
          <a:prstGeom prst="rect">
            <a:avLst/>
          </a:prstGeom>
          <a:noFill/>
          <a:ln/>
        </p:spPr>
        <p:txBody>
          <a:bodyPr wrap="square" lIns="0" tIns="0" rIns="0" bIns="0" rtlCol="0" anchor="ctr"/>
          <a:lstStyle/>
          <a:p>
            <a:pPr indent="0" marL="0">
              <a:lnSpc>
                <a:spcPct val="115000"/>
              </a:lnSpc>
              <a:buNone/>
            </a:pPr>
            <a:r>
              <a:rPr lang="en-US" sz="950" dirty="0">
                <a:solidFill>
                  <a:srgbClr val="1A1F2E"/>
                </a:solidFill>
                <a:latin typeface="Calibri" pitchFamily="34" charset="0"/>
                <a:ea typeface="Calibri" pitchFamily="34" charset="-122"/>
                <a:cs typeface="Calibri" pitchFamily="34" charset="-120"/>
              </a:rPr>
              <a:t>Chaque table métier porte une clé étrangère vers Établissement ; les requêtes sont filtrées automatiquement au niveau de l'API.</a:t>
            </a:r>
            <a:endParaRPr lang="en-US" sz="950" dirty="0"/>
          </a:p>
        </p:txBody>
      </p:sp>
      <p:sp>
        <p:nvSpPr>
          <p:cNvPr id="11" name="Shape 8"/>
          <p:cNvSpPr/>
          <p:nvPr/>
        </p:nvSpPr>
        <p:spPr>
          <a:xfrm>
            <a:off x="4174606" y="4023360"/>
            <a:ext cx="7438274" cy="1005840"/>
          </a:xfrm>
          <a:prstGeom prst="roundRect">
            <a:avLst>
              <a:gd name="adj" fmla="val 7273"/>
            </a:avLst>
          </a:prstGeom>
          <a:solidFill>
            <a:srgbClr val="E9EDF8"/>
          </a:solidFill>
          <a:ln/>
        </p:spPr>
      </p:sp>
      <p:sp>
        <p:nvSpPr>
          <p:cNvPr id="12" name="Text 9"/>
          <p:cNvSpPr txBox="1"/>
          <p:nvPr/>
        </p:nvSpPr>
        <p:spPr>
          <a:xfrm>
            <a:off x="4357486" y="4114800"/>
            <a:ext cx="7072514" cy="274320"/>
          </a:xfrm>
          <a:prstGeom prst="rect">
            <a:avLst/>
          </a:prstGeom>
          <a:noFill/>
          <a:ln/>
        </p:spPr>
        <p:txBody>
          <a:bodyPr wrap="square" lIns="0" tIns="0" rIns="0" bIns="0" rtlCol="0" anchor="ctr"/>
          <a:lstStyle/>
          <a:p>
            <a:pPr indent="0" marL="0">
              <a:buNone/>
            </a:pPr>
            <a:r>
              <a:rPr lang="en-US" sz="1150" b="1" dirty="0">
                <a:solidFill>
                  <a:srgbClr val="16214B"/>
                </a:solidFill>
                <a:latin typeface="Calibri" pitchFamily="34" charset="0"/>
                <a:ea typeface="Calibri" pitchFamily="34" charset="-122"/>
                <a:cs typeface="Calibri" pitchFamily="34" charset="-120"/>
              </a:rPr>
              <a:t>Intégrité référentielle</a:t>
            </a:r>
            <a:endParaRPr lang="en-US" sz="1150" dirty="0"/>
          </a:p>
        </p:txBody>
      </p:sp>
      <p:sp>
        <p:nvSpPr>
          <p:cNvPr id="13" name="Text 10"/>
          <p:cNvSpPr txBox="1"/>
          <p:nvPr/>
        </p:nvSpPr>
        <p:spPr>
          <a:xfrm>
            <a:off x="4357486" y="4407408"/>
            <a:ext cx="7072514" cy="566928"/>
          </a:xfrm>
          <a:prstGeom prst="rect">
            <a:avLst/>
          </a:prstGeom>
          <a:noFill/>
          <a:ln/>
        </p:spPr>
        <p:txBody>
          <a:bodyPr wrap="square" lIns="0" tIns="0" rIns="0" bIns="0" rtlCol="0" anchor="ctr"/>
          <a:lstStyle/>
          <a:p>
            <a:pPr indent="0" marL="0">
              <a:lnSpc>
                <a:spcPct val="115000"/>
              </a:lnSpc>
              <a:buNone/>
            </a:pPr>
            <a:r>
              <a:rPr lang="en-US" sz="950" dirty="0">
                <a:solidFill>
                  <a:srgbClr val="1A1F2E"/>
                </a:solidFill>
                <a:latin typeface="Calibri" pitchFamily="34" charset="0"/>
                <a:ea typeface="Calibri" pitchFamily="34" charset="-122"/>
                <a:cs typeface="Calibri" pitchFamily="34" charset="-120"/>
              </a:rPr>
              <a:t>Suppressions protégées (on_delete=PROTECT) sur les entités déjà référencées — élève inscrit, note saisie, paiement enregistré.</a:t>
            </a:r>
            <a:endParaRPr lang="en-US" sz="950" dirty="0"/>
          </a:p>
        </p:txBody>
      </p:sp>
      <p:sp>
        <p:nvSpPr>
          <p:cNvPr id="14" name="Shape 11"/>
          <p:cNvSpPr/>
          <p:nvPr/>
        </p:nvSpPr>
        <p:spPr>
          <a:xfrm>
            <a:off x="4174606" y="5166360"/>
            <a:ext cx="7438274" cy="1005840"/>
          </a:xfrm>
          <a:prstGeom prst="roundRect">
            <a:avLst>
              <a:gd name="adj" fmla="val 7273"/>
            </a:avLst>
          </a:prstGeom>
          <a:solidFill>
            <a:srgbClr val="E9EDF8"/>
          </a:solidFill>
          <a:ln/>
        </p:spPr>
      </p:sp>
      <p:sp>
        <p:nvSpPr>
          <p:cNvPr id="15" name="Text 12"/>
          <p:cNvSpPr txBox="1"/>
          <p:nvPr/>
        </p:nvSpPr>
        <p:spPr>
          <a:xfrm>
            <a:off x="4357486" y="5257800"/>
            <a:ext cx="7072514" cy="274320"/>
          </a:xfrm>
          <a:prstGeom prst="rect">
            <a:avLst/>
          </a:prstGeom>
          <a:noFill/>
          <a:ln/>
        </p:spPr>
        <p:txBody>
          <a:bodyPr wrap="square" lIns="0" tIns="0" rIns="0" bIns="0" rtlCol="0" anchor="ctr"/>
          <a:lstStyle/>
          <a:p>
            <a:pPr indent="0" marL="0">
              <a:buNone/>
            </a:pPr>
            <a:r>
              <a:rPr lang="en-US" sz="1150" b="1" dirty="0">
                <a:solidFill>
                  <a:srgbClr val="16214B"/>
                </a:solidFill>
                <a:latin typeface="Calibri" pitchFamily="34" charset="0"/>
                <a:ea typeface="Calibri" pitchFamily="34" charset="-122"/>
                <a:cs typeface="Calibri" pitchFamily="34" charset="-120"/>
              </a:rPr>
              <a:t>Journalisation</a:t>
            </a:r>
            <a:endParaRPr lang="en-US" sz="1150" dirty="0"/>
          </a:p>
        </p:txBody>
      </p:sp>
      <p:sp>
        <p:nvSpPr>
          <p:cNvPr id="16" name="Text 13"/>
          <p:cNvSpPr txBox="1"/>
          <p:nvPr/>
        </p:nvSpPr>
        <p:spPr>
          <a:xfrm>
            <a:off x="4357486" y="5550408"/>
            <a:ext cx="7072514" cy="566928"/>
          </a:xfrm>
          <a:prstGeom prst="rect">
            <a:avLst/>
          </a:prstGeom>
          <a:noFill/>
          <a:ln/>
        </p:spPr>
        <p:txBody>
          <a:bodyPr wrap="square" lIns="0" tIns="0" rIns="0" bIns="0" rtlCol="0" anchor="ctr"/>
          <a:lstStyle/>
          <a:p>
            <a:pPr indent="0" marL="0">
              <a:lnSpc>
                <a:spcPct val="115000"/>
              </a:lnSpc>
              <a:buNone/>
            </a:pPr>
            <a:r>
              <a:rPr lang="en-US" sz="950" dirty="0">
                <a:solidFill>
                  <a:srgbClr val="1A1F2E"/>
                </a:solidFill>
                <a:latin typeface="Calibri" pitchFamily="34" charset="0"/>
                <a:ea typeface="Calibri" pitchFamily="34" charset="-122"/>
                <a:cs typeface="Calibri" pitchFamily="34" charset="-120"/>
              </a:rPr>
              <a:t>Chaque création, modification ou suppression sensible génère une entrée dans le journal d'audit (utilisateur, module, horodatage).</a:t>
            </a:r>
            <a:endParaRPr lang="en-US" sz="950" dirty="0"/>
          </a:p>
        </p:txBody>
      </p:sp>
      <p:sp>
        <p:nvSpPr>
          <p:cNvPr id="17" name="Text 14"/>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18" name="Text 1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DF8"/>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05 · FONCTIONNALITÉS</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Un tableau de bord adapté à chaque rôle</a:t>
            </a:r>
            <a:endParaRPr lang="en-US" sz="3000" dirty="0"/>
          </a:p>
        </p:txBody>
      </p:sp>
      <p:sp>
        <p:nvSpPr>
          <p:cNvPr id="4" name="Shape 2"/>
          <p:cNvSpPr/>
          <p:nvPr/>
        </p:nvSpPr>
        <p:spPr>
          <a:xfrm>
            <a:off x="4983480" y="1783080"/>
            <a:ext cx="6766560" cy="3680460"/>
          </a:xfrm>
          <a:prstGeom prst="roundRect">
            <a:avLst>
              <a:gd name="adj" fmla="val 1988"/>
            </a:avLst>
          </a:prstGeom>
          <a:solidFill>
            <a:srgbClr val="FFFFFF"/>
          </a:solidFill>
          <a:ln/>
          <a:effectLst>
            <a:outerShdw sx="100000" sy="100000" kx="0" ky="0" algn="bl" rotWithShape="0" blurRad="127000" dist="38100" dir="5400000">
              <a:srgbClr val="0D142E">
                <a:alpha val="28000"/>
              </a:srgbClr>
            </a:outerShdw>
          </a:effectLst>
        </p:spPr>
      </p:sp>
      <p:pic>
        <p:nvPicPr>
          <p:cNvPr id="5" name="Image 0" descr="/mnt/user-data/uploads/Projet SMS/docs/screenshots/dashboard-charts.png">    </p:cNvPr>
          <p:cNvPicPr>
            <a:picLocks noChangeAspect="1"/>
          </p:cNvPicPr>
          <p:nvPr/>
        </p:nvPicPr>
        <p:blipFill>
          <a:blip r:embed="rId1"/>
          <a:stretch>
            <a:fillRect/>
          </a:stretch>
        </p:blipFill>
        <p:spPr>
          <a:xfrm>
            <a:off x="5074920" y="1874520"/>
            <a:ext cx="6583680" cy="3497580"/>
          </a:xfrm>
          <a:prstGeom prst="rect">
            <a:avLst/>
          </a:prstGeom>
        </p:spPr>
      </p:pic>
      <p:sp>
        <p:nvSpPr>
          <p:cNvPr id="6" name="Shape 3"/>
          <p:cNvSpPr/>
          <p:nvPr/>
        </p:nvSpPr>
        <p:spPr>
          <a:xfrm>
            <a:off x="548640" y="1783080"/>
            <a:ext cx="4206240" cy="841248"/>
          </a:xfrm>
          <a:prstGeom prst="roundRect">
            <a:avLst>
              <a:gd name="adj" fmla="val 9783"/>
            </a:avLst>
          </a:prstGeom>
          <a:solidFill>
            <a:srgbClr val="FFFFFF"/>
          </a:solidFill>
          <a:ln/>
          <a:effectLst>
            <a:outerShdw sx="100000" sy="100000" kx="0" ky="0" algn="bl" rotWithShape="0" blurRad="127000" dist="38100" dir="5400000">
              <a:srgbClr val="0D142E">
                <a:alpha val="28000"/>
              </a:srgbClr>
            </a:outerShdw>
          </a:effectLst>
        </p:spPr>
      </p:sp>
      <p:sp>
        <p:nvSpPr>
          <p:cNvPr id="7" name="Text 4"/>
          <p:cNvSpPr txBox="1"/>
          <p:nvPr/>
        </p:nvSpPr>
        <p:spPr>
          <a:xfrm>
            <a:off x="685800" y="1892808"/>
            <a:ext cx="3931920" cy="462686"/>
          </a:xfrm>
          <a:prstGeom prst="rect">
            <a:avLst/>
          </a:prstGeom>
          <a:noFill/>
          <a:ln/>
        </p:spPr>
        <p:txBody>
          <a:bodyPr wrap="square" lIns="0" tIns="0" rIns="0" bIns="0" rtlCol="0" anchor="b"/>
          <a:lstStyle/>
          <a:p>
            <a:pPr algn="l" indent="0" marL="0">
              <a:buNone/>
            </a:pPr>
            <a:r>
              <a:rPr lang="en-US" sz="2000" b="1" dirty="0">
                <a:solidFill>
                  <a:srgbClr val="16214B"/>
                </a:solidFill>
                <a:latin typeface="Cambria" pitchFamily="34" charset="0"/>
                <a:ea typeface="Cambria" pitchFamily="34" charset="-122"/>
                <a:cs typeface="Cambria" pitchFamily="34" charset="-120"/>
              </a:rPr>
              <a:t>7</a:t>
            </a:r>
            <a:endParaRPr lang="en-US" sz="2000" dirty="0"/>
          </a:p>
        </p:txBody>
      </p:sp>
      <p:sp>
        <p:nvSpPr>
          <p:cNvPr id="8" name="Text 5"/>
          <p:cNvSpPr txBox="1"/>
          <p:nvPr/>
        </p:nvSpPr>
        <p:spPr>
          <a:xfrm>
            <a:off x="685800" y="2271004"/>
            <a:ext cx="3931920" cy="319674"/>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rôles applicatifs distincts</a:t>
            </a:r>
            <a:endParaRPr lang="en-US" sz="1050" dirty="0"/>
          </a:p>
        </p:txBody>
      </p:sp>
      <p:sp>
        <p:nvSpPr>
          <p:cNvPr id="9" name="Shape 6"/>
          <p:cNvSpPr/>
          <p:nvPr/>
        </p:nvSpPr>
        <p:spPr>
          <a:xfrm>
            <a:off x="548640" y="2724912"/>
            <a:ext cx="4206240" cy="841248"/>
          </a:xfrm>
          <a:prstGeom prst="roundRect">
            <a:avLst>
              <a:gd name="adj" fmla="val 9783"/>
            </a:avLst>
          </a:prstGeom>
          <a:solidFill>
            <a:srgbClr val="FFFFFF"/>
          </a:solidFill>
          <a:ln/>
          <a:effectLst>
            <a:outerShdw sx="100000" sy="100000" kx="0" ky="0" algn="bl" rotWithShape="0" blurRad="127000" dist="38100" dir="5400000">
              <a:srgbClr val="0D142E">
                <a:alpha val="28000"/>
              </a:srgbClr>
            </a:outerShdw>
          </a:effectLst>
        </p:spPr>
      </p:sp>
      <p:sp>
        <p:nvSpPr>
          <p:cNvPr id="10" name="Text 7"/>
          <p:cNvSpPr txBox="1"/>
          <p:nvPr/>
        </p:nvSpPr>
        <p:spPr>
          <a:xfrm>
            <a:off x="685800" y="2834640"/>
            <a:ext cx="3931920" cy="462686"/>
          </a:xfrm>
          <a:prstGeom prst="rect">
            <a:avLst/>
          </a:prstGeom>
          <a:noFill/>
          <a:ln/>
        </p:spPr>
        <p:txBody>
          <a:bodyPr wrap="square" lIns="0" tIns="0" rIns="0" bIns="0" rtlCol="0" anchor="b"/>
          <a:lstStyle/>
          <a:p>
            <a:pPr algn="l" indent="0" marL="0">
              <a:buNone/>
            </a:pPr>
            <a:r>
              <a:rPr lang="en-US" sz="2000" b="1" dirty="0">
                <a:solidFill>
                  <a:srgbClr val="16214B"/>
                </a:solidFill>
                <a:latin typeface="Cambria" pitchFamily="34" charset="0"/>
                <a:ea typeface="Cambria" pitchFamily="34" charset="-122"/>
                <a:cs typeface="Cambria" pitchFamily="34" charset="-120"/>
              </a:rPr>
              <a:t>34+</a:t>
            </a:r>
            <a:endParaRPr lang="en-US" sz="2000" dirty="0"/>
          </a:p>
        </p:txBody>
      </p:sp>
      <p:sp>
        <p:nvSpPr>
          <p:cNvPr id="11" name="Text 8"/>
          <p:cNvSpPr txBox="1"/>
          <p:nvPr/>
        </p:nvSpPr>
        <p:spPr>
          <a:xfrm>
            <a:off x="685800" y="3212836"/>
            <a:ext cx="3931920" cy="319674"/>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pages front-end (React)</a:t>
            </a:r>
            <a:endParaRPr lang="en-US" sz="1050" dirty="0"/>
          </a:p>
        </p:txBody>
      </p:sp>
      <p:sp>
        <p:nvSpPr>
          <p:cNvPr id="12" name="Shape 9"/>
          <p:cNvSpPr/>
          <p:nvPr/>
        </p:nvSpPr>
        <p:spPr>
          <a:xfrm>
            <a:off x="548640" y="3666744"/>
            <a:ext cx="4206240" cy="841248"/>
          </a:xfrm>
          <a:prstGeom prst="roundRect">
            <a:avLst>
              <a:gd name="adj" fmla="val 9783"/>
            </a:avLst>
          </a:prstGeom>
          <a:solidFill>
            <a:srgbClr val="FFFFFF"/>
          </a:solidFill>
          <a:ln/>
          <a:effectLst>
            <a:outerShdw sx="100000" sy="100000" kx="0" ky="0" algn="bl" rotWithShape="0" blurRad="127000" dist="38100" dir="5400000">
              <a:srgbClr val="0D142E">
                <a:alpha val="28000"/>
              </a:srgbClr>
            </a:outerShdw>
          </a:effectLst>
        </p:spPr>
      </p:sp>
      <p:sp>
        <p:nvSpPr>
          <p:cNvPr id="13" name="Text 10"/>
          <p:cNvSpPr txBox="1"/>
          <p:nvPr/>
        </p:nvSpPr>
        <p:spPr>
          <a:xfrm>
            <a:off x="685800" y="3776472"/>
            <a:ext cx="3931920" cy="462686"/>
          </a:xfrm>
          <a:prstGeom prst="rect">
            <a:avLst/>
          </a:prstGeom>
          <a:noFill/>
          <a:ln/>
        </p:spPr>
        <p:txBody>
          <a:bodyPr wrap="square" lIns="0" tIns="0" rIns="0" bIns="0" rtlCol="0" anchor="b"/>
          <a:lstStyle/>
          <a:p>
            <a:pPr algn="l" indent="0" marL="0">
              <a:buNone/>
            </a:pPr>
            <a:r>
              <a:rPr lang="en-US" sz="2000" b="1" dirty="0">
                <a:solidFill>
                  <a:srgbClr val="16214B"/>
                </a:solidFill>
                <a:latin typeface="Cambria" pitchFamily="34" charset="0"/>
                <a:ea typeface="Cambria" pitchFamily="34" charset="-122"/>
                <a:cs typeface="Cambria" pitchFamily="34" charset="-120"/>
              </a:rPr>
              <a:t>12</a:t>
            </a:r>
            <a:endParaRPr lang="en-US" sz="2000" dirty="0"/>
          </a:p>
        </p:txBody>
      </p:sp>
      <p:sp>
        <p:nvSpPr>
          <p:cNvPr id="14" name="Text 11"/>
          <p:cNvSpPr txBox="1"/>
          <p:nvPr/>
        </p:nvSpPr>
        <p:spPr>
          <a:xfrm>
            <a:off x="685800" y="4154668"/>
            <a:ext cx="3931920" cy="319674"/>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domaines fonctionnels</a:t>
            </a:r>
            <a:endParaRPr lang="en-US" sz="1050" dirty="0"/>
          </a:p>
        </p:txBody>
      </p:sp>
      <p:sp>
        <p:nvSpPr>
          <p:cNvPr id="15" name="Shape 12"/>
          <p:cNvSpPr/>
          <p:nvPr/>
        </p:nvSpPr>
        <p:spPr>
          <a:xfrm>
            <a:off x="548640" y="4608576"/>
            <a:ext cx="4206240" cy="841248"/>
          </a:xfrm>
          <a:prstGeom prst="roundRect">
            <a:avLst>
              <a:gd name="adj" fmla="val 9783"/>
            </a:avLst>
          </a:prstGeom>
          <a:solidFill>
            <a:srgbClr val="FFFFFF"/>
          </a:solidFill>
          <a:ln/>
          <a:effectLst>
            <a:outerShdw sx="100000" sy="100000" kx="0" ky="0" algn="bl" rotWithShape="0" blurRad="127000" dist="38100" dir="5400000">
              <a:srgbClr val="0D142E">
                <a:alpha val="28000"/>
              </a:srgbClr>
            </a:outerShdw>
          </a:effectLst>
        </p:spPr>
      </p:sp>
      <p:sp>
        <p:nvSpPr>
          <p:cNvPr id="16" name="Text 13"/>
          <p:cNvSpPr txBox="1"/>
          <p:nvPr/>
        </p:nvSpPr>
        <p:spPr>
          <a:xfrm>
            <a:off x="685800" y="4718304"/>
            <a:ext cx="3931920" cy="462686"/>
          </a:xfrm>
          <a:prstGeom prst="rect">
            <a:avLst/>
          </a:prstGeom>
          <a:noFill/>
          <a:ln/>
        </p:spPr>
        <p:txBody>
          <a:bodyPr wrap="square" lIns="0" tIns="0" rIns="0" bIns="0" rtlCol="0" anchor="b"/>
          <a:lstStyle/>
          <a:p>
            <a:pPr algn="l" indent="0" marL="0">
              <a:buNone/>
            </a:pPr>
            <a:r>
              <a:rPr lang="en-US" sz="2000" b="1" dirty="0">
                <a:solidFill>
                  <a:srgbClr val="16214B"/>
                </a:solidFill>
                <a:latin typeface="Cambria" pitchFamily="34" charset="0"/>
                <a:ea typeface="Cambria" pitchFamily="34" charset="-122"/>
                <a:cs typeface="Cambria" pitchFamily="34" charset="-120"/>
              </a:rPr>
              <a:t>60+</a:t>
            </a:r>
            <a:endParaRPr lang="en-US" sz="2000" dirty="0"/>
          </a:p>
        </p:txBody>
      </p:sp>
      <p:sp>
        <p:nvSpPr>
          <p:cNvPr id="17" name="Text 14"/>
          <p:cNvSpPr txBox="1"/>
          <p:nvPr/>
        </p:nvSpPr>
        <p:spPr>
          <a:xfrm>
            <a:off x="685800" y="5096500"/>
            <a:ext cx="3931920" cy="319674"/>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tables en base de données</a:t>
            </a:r>
            <a:endParaRPr lang="en-US" sz="1050" dirty="0"/>
          </a:p>
        </p:txBody>
      </p:sp>
      <p:sp>
        <p:nvSpPr>
          <p:cNvPr id="18" name="Text 15"/>
          <p:cNvSpPr txBox="1"/>
          <p:nvPr/>
        </p:nvSpPr>
        <p:spPr>
          <a:xfrm>
            <a:off x="548640" y="5623560"/>
            <a:ext cx="4206240" cy="777240"/>
          </a:xfrm>
          <a:prstGeom prst="rect">
            <a:avLst/>
          </a:prstGeom>
          <a:noFill/>
          <a:ln/>
        </p:spPr>
        <p:txBody>
          <a:bodyPr wrap="square" lIns="0" tIns="0" rIns="0" bIns="0" rtlCol="0" anchor="ctr"/>
          <a:lstStyle/>
          <a:p>
            <a:pPr indent="0" marL="0">
              <a:lnSpc>
                <a:spcPct val="120000"/>
              </a:lnSpc>
              <a:buNone/>
            </a:pPr>
            <a:r>
              <a:rPr lang="en-US" sz="1050" i="1" dirty="0">
                <a:solidFill>
                  <a:srgbClr val="5B6478"/>
                </a:solidFill>
                <a:latin typeface="Calibri" pitchFamily="34" charset="0"/>
                <a:ea typeface="Calibri" pitchFamily="34" charset="-122"/>
                <a:cs typeface="Calibri" pitchFamily="34" charset="-120"/>
              </a:rPr>
              <a:t>Un tableau de bord et une navigation qui s'adaptent au rôle connecté — un directeur, un enseignant et un élève n'y voient pas les mêmes indicateurs.</a:t>
            </a:r>
            <a:endParaRPr lang="en-US" sz="1050" dirty="0"/>
          </a:p>
        </p:txBody>
      </p:sp>
      <p:sp>
        <p:nvSpPr>
          <p:cNvPr id="19" name="Text 1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20" name="Text 1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05 · FONCTIONNALITÉS</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Gestion des élèves et du corps enseignant</a:t>
            </a:r>
            <a:endParaRPr lang="en-US" sz="3000" dirty="0"/>
          </a:p>
        </p:txBody>
      </p:sp>
      <p:sp>
        <p:nvSpPr>
          <p:cNvPr id="4" name="Shape 2"/>
          <p:cNvSpPr/>
          <p:nvPr/>
        </p:nvSpPr>
        <p:spPr>
          <a:xfrm>
            <a:off x="475488" y="1527048"/>
            <a:ext cx="5495544" cy="2988088"/>
          </a:xfrm>
          <a:prstGeom prst="roundRect">
            <a:avLst>
              <a:gd name="adj" fmla="val 2142"/>
            </a:avLst>
          </a:prstGeom>
          <a:solidFill>
            <a:srgbClr val="FFFFFF"/>
          </a:solidFill>
          <a:ln w="12700">
            <a:solidFill>
              <a:srgbClr val="DCE2F0"/>
            </a:solidFill>
            <a:prstDash val="solid"/>
          </a:ln>
          <a:effectLst>
            <a:outerShdw sx="100000" sy="100000" kx="0" ky="0" algn="bl" rotWithShape="0" blurRad="127000" dist="38100" dir="5400000">
              <a:srgbClr val="0D142E">
                <a:alpha val="28000"/>
              </a:srgbClr>
            </a:outerShdw>
          </a:effectLst>
        </p:spPr>
      </p:sp>
      <p:pic>
        <p:nvPicPr>
          <p:cNvPr id="5" name="Image 0" descr="/mnt/user-data/uploads/Projet SMS/docs/screenshots/students.png">    </p:cNvPr>
          <p:cNvPicPr>
            <a:picLocks noChangeAspect="1"/>
          </p:cNvPicPr>
          <p:nvPr/>
        </p:nvPicPr>
        <p:blipFill>
          <a:blip r:embed="rId1"/>
          <a:stretch>
            <a:fillRect/>
          </a:stretch>
        </p:blipFill>
        <p:spPr>
          <a:xfrm>
            <a:off x="548640" y="1600200"/>
            <a:ext cx="5349240" cy="2841784"/>
          </a:xfrm>
          <a:prstGeom prst="rect">
            <a:avLst/>
          </a:prstGeom>
        </p:spPr>
      </p:pic>
      <p:sp>
        <p:nvSpPr>
          <p:cNvPr id="6" name="Text 3"/>
          <p:cNvSpPr txBox="1"/>
          <p:nvPr/>
        </p:nvSpPr>
        <p:spPr>
          <a:xfrm>
            <a:off x="548640" y="4606576"/>
            <a:ext cx="5349240" cy="320040"/>
          </a:xfrm>
          <a:prstGeom prst="rect">
            <a:avLst/>
          </a:prstGeom>
          <a:noFill/>
          <a:ln/>
        </p:spPr>
        <p:txBody>
          <a:bodyPr wrap="square" lIns="0" tIns="0" rIns="0" bIns="0" rtlCol="0" anchor="ctr"/>
          <a:lstStyle/>
          <a:p>
            <a:pPr indent="0" marL="0">
              <a:buNone/>
            </a:pPr>
            <a:r>
              <a:rPr lang="en-US" sz="1400" b="1" dirty="0">
                <a:solidFill>
                  <a:srgbClr val="16214B"/>
                </a:solidFill>
                <a:latin typeface="Calibri" pitchFamily="34" charset="0"/>
                <a:ea typeface="Calibri" pitchFamily="34" charset="-122"/>
                <a:cs typeface="Calibri" pitchFamily="34" charset="-120"/>
              </a:rPr>
              <a:t>Dossiers élèves</a:t>
            </a:r>
            <a:endParaRPr lang="en-US" sz="1400" dirty="0"/>
          </a:p>
        </p:txBody>
      </p:sp>
      <p:sp>
        <p:nvSpPr>
          <p:cNvPr id="7" name="Text 4"/>
          <p:cNvSpPr txBox="1"/>
          <p:nvPr/>
        </p:nvSpPr>
        <p:spPr>
          <a:xfrm>
            <a:off x="548640" y="4944904"/>
            <a:ext cx="5349240" cy="777240"/>
          </a:xfrm>
          <a:prstGeom prst="rect">
            <a:avLst/>
          </a:prstGeom>
          <a:noFill/>
          <a:ln/>
        </p:spPr>
        <p:txBody>
          <a:bodyPr wrap="square" lIns="0" tIns="0" rIns="0" bIns="0" rtlCol="0" anchor="ctr"/>
          <a:lstStyle/>
          <a:p>
            <a:pPr indent="0" marL="0">
              <a:lnSpc>
                <a:spcPct val="120000"/>
              </a:lnSpc>
              <a:buNone/>
            </a:pPr>
            <a:r>
              <a:rPr lang="en-US" sz="1100" dirty="0">
                <a:solidFill>
                  <a:srgbClr val="1A1F2E"/>
                </a:solidFill>
                <a:latin typeface="Calibri" pitchFamily="34" charset="0"/>
                <a:ea typeface="Calibri" pitchFamily="34" charset="-122"/>
                <a:cs typeface="Calibri" pitchFamily="34" charset="-120"/>
              </a:rPr>
              <a:t>Inscription, informations personnelles et familiales, classe et parcours scolaire centralisés par établissement.</a:t>
            </a:r>
            <a:endParaRPr lang="en-US" sz="1100" dirty="0"/>
          </a:p>
        </p:txBody>
      </p:sp>
      <p:sp>
        <p:nvSpPr>
          <p:cNvPr id="8" name="Shape 5"/>
          <p:cNvSpPr/>
          <p:nvPr/>
        </p:nvSpPr>
        <p:spPr>
          <a:xfrm>
            <a:off x="6144768" y="1527048"/>
            <a:ext cx="5495544" cy="2988088"/>
          </a:xfrm>
          <a:prstGeom prst="roundRect">
            <a:avLst>
              <a:gd name="adj" fmla="val 2142"/>
            </a:avLst>
          </a:prstGeom>
          <a:solidFill>
            <a:srgbClr val="FFFFFF"/>
          </a:solidFill>
          <a:ln w="12700">
            <a:solidFill>
              <a:srgbClr val="DCE2F0"/>
            </a:solidFill>
            <a:prstDash val="solid"/>
          </a:ln>
          <a:effectLst>
            <a:outerShdw sx="100000" sy="100000" kx="0" ky="0" algn="bl" rotWithShape="0" blurRad="127000" dist="38100" dir="5400000">
              <a:srgbClr val="0D142E">
                <a:alpha val="28000"/>
              </a:srgbClr>
            </a:outerShdw>
          </a:effectLst>
        </p:spPr>
      </p:sp>
      <p:pic>
        <p:nvPicPr>
          <p:cNvPr id="9" name="Image 1" descr="/mnt/user-data/uploads/Projet SMS/docs/screenshots/teachers.png">    </p:cNvPr>
          <p:cNvPicPr>
            <a:picLocks noChangeAspect="1"/>
          </p:cNvPicPr>
          <p:nvPr/>
        </p:nvPicPr>
        <p:blipFill>
          <a:blip r:embed="rId2"/>
          <a:stretch>
            <a:fillRect/>
          </a:stretch>
        </p:blipFill>
        <p:spPr>
          <a:xfrm>
            <a:off x="6217920" y="1600200"/>
            <a:ext cx="5349240" cy="2841784"/>
          </a:xfrm>
          <a:prstGeom prst="rect">
            <a:avLst/>
          </a:prstGeom>
        </p:spPr>
      </p:pic>
      <p:sp>
        <p:nvSpPr>
          <p:cNvPr id="10" name="Text 6"/>
          <p:cNvSpPr txBox="1"/>
          <p:nvPr/>
        </p:nvSpPr>
        <p:spPr>
          <a:xfrm>
            <a:off x="6217920" y="4606576"/>
            <a:ext cx="5349240" cy="320040"/>
          </a:xfrm>
          <a:prstGeom prst="rect">
            <a:avLst/>
          </a:prstGeom>
          <a:noFill/>
          <a:ln/>
        </p:spPr>
        <p:txBody>
          <a:bodyPr wrap="square" lIns="0" tIns="0" rIns="0" bIns="0" rtlCol="0" anchor="ctr"/>
          <a:lstStyle/>
          <a:p>
            <a:pPr indent="0" marL="0">
              <a:buNone/>
            </a:pPr>
            <a:r>
              <a:rPr lang="en-US" sz="1400" b="1" dirty="0">
                <a:solidFill>
                  <a:srgbClr val="16214B"/>
                </a:solidFill>
                <a:latin typeface="Calibri" pitchFamily="34" charset="0"/>
                <a:ea typeface="Calibri" pitchFamily="34" charset="-122"/>
                <a:cs typeface="Calibri" pitchFamily="34" charset="-120"/>
              </a:rPr>
              <a:t>Gestion des enseignants</a:t>
            </a:r>
            <a:endParaRPr lang="en-US" sz="1400" dirty="0"/>
          </a:p>
        </p:txBody>
      </p:sp>
      <p:sp>
        <p:nvSpPr>
          <p:cNvPr id="11" name="Text 7"/>
          <p:cNvSpPr txBox="1"/>
          <p:nvPr/>
        </p:nvSpPr>
        <p:spPr>
          <a:xfrm>
            <a:off x="6217920" y="4944904"/>
            <a:ext cx="5349240" cy="777240"/>
          </a:xfrm>
          <a:prstGeom prst="rect">
            <a:avLst/>
          </a:prstGeom>
          <a:noFill/>
          <a:ln/>
        </p:spPr>
        <p:txBody>
          <a:bodyPr wrap="square" lIns="0" tIns="0" rIns="0" bIns="0" rtlCol="0" anchor="ctr"/>
          <a:lstStyle/>
          <a:p>
            <a:pPr indent="0" marL="0">
              <a:lnSpc>
                <a:spcPct val="120000"/>
              </a:lnSpc>
              <a:buNone/>
            </a:pPr>
            <a:r>
              <a:rPr lang="en-US" sz="1100" dirty="0">
                <a:solidFill>
                  <a:srgbClr val="1A1F2E"/>
                </a:solidFill>
                <a:latin typeface="Calibri" pitchFamily="34" charset="0"/>
                <a:ea typeface="Calibri" pitchFamily="34" charset="-122"/>
                <a:cs typeface="Calibri" pitchFamily="34" charset="-120"/>
              </a:rPr>
              <a:t>Affectations aux classes et matières, emploi du temps individuel, suivi des évaluations saisies.</a:t>
            </a:r>
            <a:endParaRPr lang="en-US" sz="1100" dirty="0"/>
          </a:p>
        </p:txBody>
      </p:sp>
      <p:sp>
        <p:nvSpPr>
          <p:cNvPr id="12"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13" name="Text 9"/>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05 · FONCTIONNALITÉS</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Notes, bulletins et emploi du temps</a:t>
            </a:r>
            <a:endParaRPr lang="en-US" sz="3000" dirty="0"/>
          </a:p>
        </p:txBody>
      </p:sp>
      <p:sp>
        <p:nvSpPr>
          <p:cNvPr id="4" name="Shape 2"/>
          <p:cNvSpPr/>
          <p:nvPr/>
        </p:nvSpPr>
        <p:spPr>
          <a:xfrm>
            <a:off x="475488" y="1527048"/>
            <a:ext cx="5495544" cy="2988088"/>
          </a:xfrm>
          <a:prstGeom prst="roundRect">
            <a:avLst>
              <a:gd name="adj" fmla="val 2142"/>
            </a:avLst>
          </a:prstGeom>
          <a:solidFill>
            <a:srgbClr val="FFFFFF"/>
          </a:solidFill>
          <a:ln w="12700">
            <a:solidFill>
              <a:srgbClr val="DCE2F0"/>
            </a:solidFill>
            <a:prstDash val="solid"/>
          </a:ln>
          <a:effectLst>
            <a:outerShdw sx="100000" sy="100000" kx="0" ky="0" algn="bl" rotWithShape="0" blurRad="127000" dist="38100" dir="5400000">
              <a:srgbClr val="0D142E">
                <a:alpha val="28000"/>
              </a:srgbClr>
            </a:outerShdw>
          </a:effectLst>
        </p:spPr>
      </p:sp>
      <p:pic>
        <p:nvPicPr>
          <p:cNvPr id="5" name="Image 0" descr="/mnt/user-data/uploads/Projet SMS/docs/screenshots/grades.png">    </p:cNvPr>
          <p:cNvPicPr>
            <a:picLocks noChangeAspect="1"/>
          </p:cNvPicPr>
          <p:nvPr/>
        </p:nvPicPr>
        <p:blipFill>
          <a:blip r:embed="rId1"/>
          <a:stretch>
            <a:fillRect/>
          </a:stretch>
        </p:blipFill>
        <p:spPr>
          <a:xfrm>
            <a:off x="548640" y="1600200"/>
            <a:ext cx="5349240" cy="2841784"/>
          </a:xfrm>
          <a:prstGeom prst="rect">
            <a:avLst/>
          </a:prstGeom>
        </p:spPr>
      </p:pic>
      <p:sp>
        <p:nvSpPr>
          <p:cNvPr id="6" name="Text 3"/>
          <p:cNvSpPr txBox="1"/>
          <p:nvPr/>
        </p:nvSpPr>
        <p:spPr>
          <a:xfrm>
            <a:off x="548640" y="4606576"/>
            <a:ext cx="5349240" cy="320040"/>
          </a:xfrm>
          <a:prstGeom prst="rect">
            <a:avLst/>
          </a:prstGeom>
          <a:noFill/>
          <a:ln/>
        </p:spPr>
        <p:txBody>
          <a:bodyPr wrap="square" lIns="0" tIns="0" rIns="0" bIns="0" rtlCol="0" anchor="ctr"/>
          <a:lstStyle/>
          <a:p>
            <a:pPr indent="0" marL="0">
              <a:buNone/>
            </a:pPr>
            <a:r>
              <a:rPr lang="en-US" sz="1400" b="1" dirty="0">
                <a:solidFill>
                  <a:srgbClr val="16214B"/>
                </a:solidFill>
                <a:latin typeface="Calibri" pitchFamily="34" charset="0"/>
                <a:ea typeface="Calibri" pitchFamily="34" charset="-122"/>
                <a:cs typeface="Calibri" pitchFamily="34" charset="-120"/>
              </a:rPr>
              <a:t>Saisie &amp; calcul des notes</a:t>
            </a:r>
            <a:endParaRPr lang="en-US" sz="1400" dirty="0"/>
          </a:p>
        </p:txBody>
      </p:sp>
      <p:sp>
        <p:nvSpPr>
          <p:cNvPr id="7" name="Text 4"/>
          <p:cNvSpPr txBox="1"/>
          <p:nvPr/>
        </p:nvSpPr>
        <p:spPr>
          <a:xfrm>
            <a:off x="548640" y="4944904"/>
            <a:ext cx="5349240" cy="777240"/>
          </a:xfrm>
          <a:prstGeom prst="rect">
            <a:avLst/>
          </a:prstGeom>
          <a:noFill/>
          <a:ln/>
        </p:spPr>
        <p:txBody>
          <a:bodyPr wrap="square" lIns="0" tIns="0" rIns="0" bIns="0" rtlCol="0" anchor="ctr"/>
          <a:lstStyle/>
          <a:p>
            <a:pPr indent="0" marL="0">
              <a:lnSpc>
                <a:spcPct val="120000"/>
              </a:lnSpc>
              <a:buNone/>
            </a:pPr>
            <a:r>
              <a:rPr lang="en-US" sz="1100" dirty="0">
                <a:solidFill>
                  <a:srgbClr val="1A1F2E"/>
                </a:solidFill>
                <a:latin typeface="Calibri" pitchFamily="34" charset="0"/>
                <a:ea typeface="Calibri" pitchFamily="34" charset="-122"/>
                <a:cs typeface="Calibri" pitchFamily="34" charset="-120"/>
              </a:rPr>
              <a:t>Saisie des évaluations par matière, moyennes calculées automatiquement, bulletins générés sans reprise manuelle.</a:t>
            </a:r>
            <a:endParaRPr lang="en-US" sz="1100" dirty="0"/>
          </a:p>
        </p:txBody>
      </p:sp>
      <p:sp>
        <p:nvSpPr>
          <p:cNvPr id="8" name="Shape 5"/>
          <p:cNvSpPr/>
          <p:nvPr/>
        </p:nvSpPr>
        <p:spPr>
          <a:xfrm>
            <a:off x="6144768" y="1527048"/>
            <a:ext cx="5495544" cy="2988088"/>
          </a:xfrm>
          <a:prstGeom prst="roundRect">
            <a:avLst>
              <a:gd name="adj" fmla="val 2142"/>
            </a:avLst>
          </a:prstGeom>
          <a:solidFill>
            <a:srgbClr val="FFFFFF"/>
          </a:solidFill>
          <a:ln w="12700">
            <a:solidFill>
              <a:srgbClr val="DCE2F0"/>
            </a:solidFill>
            <a:prstDash val="solid"/>
          </a:ln>
          <a:effectLst>
            <a:outerShdw sx="100000" sy="100000" kx="0" ky="0" algn="bl" rotWithShape="0" blurRad="127000" dist="38100" dir="5400000">
              <a:srgbClr val="0D142E">
                <a:alpha val="28000"/>
              </a:srgbClr>
            </a:outerShdw>
          </a:effectLst>
        </p:spPr>
      </p:sp>
      <p:pic>
        <p:nvPicPr>
          <p:cNvPr id="9" name="Image 1" descr="/mnt/user-data/uploads/Projet SMS/docs/screenshots/planning.png">    </p:cNvPr>
          <p:cNvPicPr>
            <a:picLocks noChangeAspect="1"/>
          </p:cNvPicPr>
          <p:nvPr/>
        </p:nvPicPr>
        <p:blipFill>
          <a:blip r:embed="rId2"/>
          <a:stretch>
            <a:fillRect/>
          </a:stretch>
        </p:blipFill>
        <p:spPr>
          <a:xfrm>
            <a:off x="6217920" y="1600200"/>
            <a:ext cx="5349240" cy="2841784"/>
          </a:xfrm>
          <a:prstGeom prst="rect">
            <a:avLst/>
          </a:prstGeom>
        </p:spPr>
      </p:pic>
      <p:sp>
        <p:nvSpPr>
          <p:cNvPr id="10" name="Text 6"/>
          <p:cNvSpPr txBox="1"/>
          <p:nvPr/>
        </p:nvSpPr>
        <p:spPr>
          <a:xfrm>
            <a:off x="6217920" y="4606576"/>
            <a:ext cx="5349240" cy="320040"/>
          </a:xfrm>
          <a:prstGeom prst="rect">
            <a:avLst/>
          </a:prstGeom>
          <a:noFill/>
          <a:ln/>
        </p:spPr>
        <p:txBody>
          <a:bodyPr wrap="square" lIns="0" tIns="0" rIns="0" bIns="0" rtlCol="0" anchor="ctr"/>
          <a:lstStyle/>
          <a:p>
            <a:pPr indent="0" marL="0">
              <a:buNone/>
            </a:pPr>
            <a:r>
              <a:rPr lang="en-US" sz="1400" b="1" dirty="0">
                <a:solidFill>
                  <a:srgbClr val="16214B"/>
                </a:solidFill>
                <a:latin typeface="Calibri" pitchFamily="34" charset="0"/>
                <a:ea typeface="Calibri" pitchFamily="34" charset="-122"/>
                <a:cs typeface="Calibri" pitchFamily="34" charset="-120"/>
              </a:rPr>
              <a:t>Planning &amp; emploi du temps</a:t>
            </a:r>
            <a:endParaRPr lang="en-US" sz="1400" dirty="0"/>
          </a:p>
        </p:txBody>
      </p:sp>
      <p:sp>
        <p:nvSpPr>
          <p:cNvPr id="11" name="Text 7"/>
          <p:cNvSpPr txBox="1"/>
          <p:nvPr/>
        </p:nvSpPr>
        <p:spPr>
          <a:xfrm>
            <a:off x="6217920" y="4944904"/>
            <a:ext cx="5349240" cy="777240"/>
          </a:xfrm>
          <a:prstGeom prst="rect">
            <a:avLst/>
          </a:prstGeom>
          <a:noFill/>
          <a:ln/>
        </p:spPr>
        <p:txBody>
          <a:bodyPr wrap="square" lIns="0" tIns="0" rIns="0" bIns="0" rtlCol="0" anchor="ctr"/>
          <a:lstStyle/>
          <a:p>
            <a:pPr indent="0" marL="0">
              <a:lnSpc>
                <a:spcPct val="120000"/>
              </a:lnSpc>
              <a:buNone/>
            </a:pPr>
            <a:r>
              <a:rPr lang="en-US" sz="1100" dirty="0">
                <a:solidFill>
                  <a:srgbClr val="1A1F2E"/>
                </a:solidFill>
                <a:latin typeface="Calibri" pitchFamily="34" charset="0"/>
                <a:ea typeface="Calibri" pitchFamily="34" charset="-122"/>
                <a:cs typeface="Calibri" pitchFamily="34" charset="-120"/>
              </a:rPr>
              <a:t>Emplois du temps par classe et par enseignant, visibles par tous les rôles concernés selon leurs permissions.</a:t>
            </a:r>
            <a:endParaRPr lang="en-US" sz="1100" dirty="0"/>
          </a:p>
        </p:txBody>
      </p:sp>
      <p:sp>
        <p:nvSpPr>
          <p:cNvPr id="12" name="Text 8"/>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12 domaines fonctionnels couverts : établissements, utilisateurs, scolarité, notes, examens, planning, absences, paiements, communication, documents, paramétrage, audit.</a:t>
            </a:r>
            <a:endParaRPr lang="en-US" sz="1000" dirty="0"/>
          </a:p>
        </p:txBody>
      </p:sp>
      <p:sp>
        <p:nvSpPr>
          <p:cNvPr id="13" name="Text 9"/>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14" name="Text 10"/>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42E"/>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D9A62E"/>
                </a:solidFill>
                <a:latin typeface="Calibri" pitchFamily="34" charset="0"/>
                <a:ea typeface="Calibri" pitchFamily="34" charset="-122"/>
                <a:cs typeface="Calibri" pitchFamily="34" charset="-120"/>
              </a:rPr>
              <a:t>06 · SÉCURITÉ</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Authentification, permissions &amp; auditabilité</a:t>
            </a:r>
            <a:endParaRPr lang="en-US" sz="3000" dirty="0"/>
          </a:p>
        </p:txBody>
      </p:sp>
      <p:sp>
        <p:nvSpPr>
          <p:cNvPr id="4" name="Text 2"/>
          <p:cNvSpPr txBox="1"/>
          <p:nvPr/>
        </p:nvSpPr>
        <p:spPr>
          <a:xfrm>
            <a:off x="548640" y="1600200"/>
            <a:ext cx="5029200" cy="274320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Jetons JWT courte durée (24h) + rafraîchissement 30 jours, avec liste de révocation (blocklist)</a:t>
            </a:r>
            <a:endParaRPr lang="en-US" sz="1250" dirty="0"/>
          </a:p>
          <a:p>
            <a:pPr marL="342900" indent="-342900">
              <a:lnSpc>
                <a:spcPct val="120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Permissions vérifiées côté serveur pour chacun des 7 rôles, sur chaque endpoint</a:t>
            </a:r>
            <a:endParaRPr lang="en-US" sz="1250" dirty="0"/>
          </a:p>
          <a:p>
            <a:pPr marL="342900" indent="-342900">
              <a:lnSpc>
                <a:spcPct val="120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Isolation stricte multi-établissements à chaque requête (EtablissementFilterMixin)</a:t>
            </a:r>
            <a:endParaRPr lang="en-US" sz="1250" dirty="0"/>
          </a:p>
          <a:p>
            <a:pPr marL="342900" indent="-342900">
              <a:lnSpc>
                <a:spcPct val="120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Journal d'audit horodaté : connexions, créations, modifications, suppressions</a:t>
            </a:r>
            <a:endParaRPr lang="en-US" sz="1250" dirty="0"/>
          </a:p>
          <a:p>
            <a:pPr marL="342900" indent="-342900">
              <a:lnSpc>
                <a:spcPct val="120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85 tests automatisés couvrant les principaux domaines fonctionnels</a:t>
            </a:r>
            <a:endParaRPr lang="en-US" sz="1250" dirty="0"/>
          </a:p>
        </p:txBody>
      </p:sp>
      <p:sp>
        <p:nvSpPr>
          <p:cNvPr id="5" name="Shape 3"/>
          <p:cNvSpPr/>
          <p:nvPr/>
        </p:nvSpPr>
        <p:spPr>
          <a:xfrm>
            <a:off x="548640" y="4663440"/>
            <a:ext cx="1600200" cy="914400"/>
          </a:xfrm>
          <a:prstGeom prst="roundRect">
            <a:avLst>
              <a:gd name="adj" fmla="val 8000"/>
            </a:avLst>
          </a:prstGeom>
          <a:solidFill>
            <a:srgbClr val="1D2A5C"/>
          </a:solidFill>
          <a:ln/>
        </p:spPr>
      </p:sp>
      <p:sp>
        <p:nvSpPr>
          <p:cNvPr id="6" name="Text 4"/>
          <p:cNvSpPr txBox="1"/>
          <p:nvPr/>
        </p:nvSpPr>
        <p:spPr>
          <a:xfrm>
            <a:off x="658368" y="4736592"/>
            <a:ext cx="1380744" cy="384048"/>
          </a:xfrm>
          <a:prstGeom prst="rect">
            <a:avLst/>
          </a:prstGeom>
          <a:noFill/>
          <a:ln/>
        </p:spPr>
        <p:txBody>
          <a:bodyPr wrap="square" lIns="0" tIns="0" rIns="0" bIns="0" rtlCol="0" anchor="ctr"/>
          <a:lstStyle/>
          <a:p>
            <a:pPr indent="0" marL="0">
              <a:buNone/>
            </a:pPr>
            <a:r>
              <a:rPr lang="en-US" sz="1900" b="1" dirty="0">
                <a:solidFill>
                  <a:srgbClr val="D9A62E"/>
                </a:solidFill>
                <a:latin typeface="Cambria" pitchFamily="34" charset="0"/>
                <a:ea typeface="Cambria" pitchFamily="34" charset="-122"/>
                <a:cs typeface="Cambria" pitchFamily="34" charset="-120"/>
              </a:rPr>
              <a:t>24h</a:t>
            </a:r>
            <a:endParaRPr lang="en-US" sz="1900" dirty="0"/>
          </a:p>
        </p:txBody>
      </p:sp>
      <p:sp>
        <p:nvSpPr>
          <p:cNvPr id="7" name="Text 5"/>
          <p:cNvSpPr txBox="1"/>
          <p:nvPr/>
        </p:nvSpPr>
        <p:spPr>
          <a:xfrm>
            <a:off x="658368" y="5120640"/>
            <a:ext cx="1380744" cy="402336"/>
          </a:xfrm>
          <a:prstGeom prst="rect">
            <a:avLst/>
          </a:prstGeom>
          <a:noFill/>
          <a:ln/>
        </p:spPr>
        <p:txBody>
          <a:bodyPr wrap="square" lIns="0" tIns="0" rIns="0" bIns="0" rtlCol="0" anchor="ctr"/>
          <a:lstStyle/>
          <a:p>
            <a:pPr indent="0" marL="0">
              <a:lnSpc>
                <a:spcPct val="105000"/>
              </a:lnSpc>
              <a:buNone/>
            </a:pPr>
            <a:r>
              <a:rPr lang="en-US" sz="800" dirty="0">
                <a:solidFill>
                  <a:srgbClr val="C7CFEB"/>
                </a:solidFill>
                <a:latin typeface="Calibri" pitchFamily="34" charset="0"/>
                <a:ea typeface="Calibri" pitchFamily="34" charset="-122"/>
                <a:cs typeface="Calibri" pitchFamily="34" charset="-120"/>
              </a:rPr>
              <a:t>durée du jeton</a:t>
            </a:r>
            <a:endParaRPr lang="en-US" sz="800" dirty="0"/>
          </a:p>
          <a:p>
            <a:pPr indent="0" marL="0">
              <a:lnSpc>
                <a:spcPct val="105000"/>
              </a:lnSpc>
              <a:buNone/>
            </a:pPr>
            <a:r>
              <a:rPr lang="en-US" sz="800" dirty="0">
                <a:solidFill>
                  <a:srgbClr val="C7CFEB"/>
                </a:solidFill>
                <a:latin typeface="Calibri" pitchFamily="34" charset="0"/>
                <a:ea typeface="Calibri" pitchFamily="34" charset="-122"/>
                <a:cs typeface="Calibri" pitchFamily="34" charset="-120"/>
              </a:rPr>
              <a:t>d'accès JWT</a:t>
            </a:r>
            <a:endParaRPr lang="en-US" sz="800" dirty="0"/>
          </a:p>
        </p:txBody>
      </p:sp>
      <p:sp>
        <p:nvSpPr>
          <p:cNvPr id="8" name="Shape 6"/>
          <p:cNvSpPr/>
          <p:nvPr/>
        </p:nvSpPr>
        <p:spPr>
          <a:xfrm>
            <a:off x="2331720" y="4663440"/>
            <a:ext cx="1600200" cy="914400"/>
          </a:xfrm>
          <a:prstGeom prst="roundRect">
            <a:avLst>
              <a:gd name="adj" fmla="val 8000"/>
            </a:avLst>
          </a:prstGeom>
          <a:solidFill>
            <a:srgbClr val="1D2A5C"/>
          </a:solidFill>
          <a:ln/>
        </p:spPr>
      </p:sp>
      <p:sp>
        <p:nvSpPr>
          <p:cNvPr id="9" name="Text 7"/>
          <p:cNvSpPr txBox="1"/>
          <p:nvPr/>
        </p:nvSpPr>
        <p:spPr>
          <a:xfrm>
            <a:off x="2441448" y="4736592"/>
            <a:ext cx="1380744" cy="384048"/>
          </a:xfrm>
          <a:prstGeom prst="rect">
            <a:avLst/>
          </a:prstGeom>
          <a:noFill/>
          <a:ln/>
        </p:spPr>
        <p:txBody>
          <a:bodyPr wrap="square" lIns="0" tIns="0" rIns="0" bIns="0" rtlCol="0" anchor="ctr"/>
          <a:lstStyle/>
          <a:p>
            <a:pPr indent="0" marL="0">
              <a:buNone/>
            </a:pPr>
            <a:r>
              <a:rPr lang="en-US" sz="1900" b="1" dirty="0">
                <a:solidFill>
                  <a:srgbClr val="D9A62E"/>
                </a:solidFill>
                <a:latin typeface="Cambria" pitchFamily="34" charset="0"/>
                <a:ea typeface="Cambria" pitchFamily="34" charset="-122"/>
                <a:cs typeface="Cambria" pitchFamily="34" charset="-120"/>
              </a:rPr>
              <a:t>30j</a:t>
            </a:r>
            <a:endParaRPr lang="en-US" sz="1900" dirty="0"/>
          </a:p>
        </p:txBody>
      </p:sp>
      <p:sp>
        <p:nvSpPr>
          <p:cNvPr id="10" name="Text 8"/>
          <p:cNvSpPr txBox="1"/>
          <p:nvPr/>
        </p:nvSpPr>
        <p:spPr>
          <a:xfrm>
            <a:off x="2441448" y="5120640"/>
            <a:ext cx="1380744" cy="402336"/>
          </a:xfrm>
          <a:prstGeom prst="rect">
            <a:avLst/>
          </a:prstGeom>
          <a:noFill/>
          <a:ln/>
        </p:spPr>
        <p:txBody>
          <a:bodyPr wrap="square" lIns="0" tIns="0" rIns="0" bIns="0" rtlCol="0" anchor="ctr"/>
          <a:lstStyle/>
          <a:p>
            <a:pPr indent="0" marL="0">
              <a:lnSpc>
                <a:spcPct val="105000"/>
              </a:lnSpc>
              <a:buNone/>
            </a:pPr>
            <a:r>
              <a:rPr lang="en-US" sz="800" dirty="0">
                <a:solidFill>
                  <a:srgbClr val="C7CFEB"/>
                </a:solidFill>
                <a:latin typeface="Calibri" pitchFamily="34" charset="0"/>
                <a:ea typeface="Calibri" pitchFamily="34" charset="-122"/>
                <a:cs typeface="Calibri" pitchFamily="34" charset="-120"/>
              </a:rPr>
              <a:t>rotation du jeton</a:t>
            </a:r>
            <a:endParaRPr lang="en-US" sz="800" dirty="0"/>
          </a:p>
          <a:p>
            <a:pPr indent="0" marL="0">
              <a:lnSpc>
                <a:spcPct val="105000"/>
              </a:lnSpc>
              <a:buNone/>
            </a:pPr>
            <a:r>
              <a:rPr lang="en-US" sz="800" dirty="0">
                <a:solidFill>
                  <a:srgbClr val="C7CFEB"/>
                </a:solidFill>
                <a:latin typeface="Calibri" pitchFamily="34" charset="0"/>
                <a:ea typeface="Calibri" pitchFamily="34" charset="-122"/>
                <a:cs typeface="Calibri" pitchFamily="34" charset="-120"/>
              </a:rPr>
              <a:t>de rafraîchissement</a:t>
            </a:r>
            <a:endParaRPr lang="en-US" sz="800" dirty="0"/>
          </a:p>
        </p:txBody>
      </p:sp>
      <p:sp>
        <p:nvSpPr>
          <p:cNvPr id="11" name="Shape 9"/>
          <p:cNvSpPr/>
          <p:nvPr/>
        </p:nvSpPr>
        <p:spPr>
          <a:xfrm>
            <a:off x="4114800" y="4663440"/>
            <a:ext cx="1600200" cy="914400"/>
          </a:xfrm>
          <a:prstGeom prst="roundRect">
            <a:avLst>
              <a:gd name="adj" fmla="val 8000"/>
            </a:avLst>
          </a:prstGeom>
          <a:solidFill>
            <a:srgbClr val="1D2A5C"/>
          </a:solidFill>
          <a:ln/>
        </p:spPr>
      </p:sp>
      <p:sp>
        <p:nvSpPr>
          <p:cNvPr id="12" name="Text 10"/>
          <p:cNvSpPr txBox="1"/>
          <p:nvPr/>
        </p:nvSpPr>
        <p:spPr>
          <a:xfrm>
            <a:off x="4224528" y="4736592"/>
            <a:ext cx="1380744" cy="384048"/>
          </a:xfrm>
          <a:prstGeom prst="rect">
            <a:avLst/>
          </a:prstGeom>
          <a:noFill/>
          <a:ln/>
        </p:spPr>
        <p:txBody>
          <a:bodyPr wrap="square" lIns="0" tIns="0" rIns="0" bIns="0" rtlCol="0" anchor="ctr"/>
          <a:lstStyle/>
          <a:p>
            <a:pPr indent="0" marL="0">
              <a:buNone/>
            </a:pPr>
            <a:r>
              <a:rPr lang="en-US" sz="1900" b="1" dirty="0">
                <a:solidFill>
                  <a:srgbClr val="D9A62E"/>
                </a:solidFill>
                <a:latin typeface="Cambria" pitchFamily="34" charset="0"/>
                <a:ea typeface="Cambria" pitchFamily="34" charset="-122"/>
                <a:cs typeface="Cambria" pitchFamily="34" charset="-120"/>
              </a:rPr>
              <a:t>85</a:t>
            </a:r>
            <a:endParaRPr lang="en-US" sz="1900" dirty="0"/>
          </a:p>
        </p:txBody>
      </p:sp>
      <p:sp>
        <p:nvSpPr>
          <p:cNvPr id="13" name="Text 11"/>
          <p:cNvSpPr txBox="1"/>
          <p:nvPr/>
        </p:nvSpPr>
        <p:spPr>
          <a:xfrm>
            <a:off x="4224528" y="5120640"/>
            <a:ext cx="1380744" cy="402336"/>
          </a:xfrm>
          <a:prstGeom prst="rect">
            <a:avLst/>
          </a:prstGeom>
          <a:noFill/>
          <a:ln/>
        </p:spPr>
        <p:txBody>
          <a:bodyPr wrap="square" lIns="0" tIns="0" rIns="0" bIns="0" rtlCol="0" anchor="ctr"/>
          <a:lstStyle/>
          <a:p>
            <a:pPr indent="0" marL="0">
              <a:lnSpc>
                <a:spcPct val="105000"/>
              </a:lnSpc>
              <a:buNone/>
            </a:pPr>
            <a:r>
              <a:rPr lang="en-US" sz="800" dirty="0">
                <a:solidFill>
                  <a:srgbClr val="C7CFEB"/>
                </a:solidFill>
                <a:latin typeface="Calibri" pitchFamily="34" charset="0"/>
                <a:ea typeface="Calibri" pitchFamily="34" charset="-122"/>
                <a:cs typeface="Calibri" pitchFamily="34" charset="-120"/>
              </a:rPr>
              <a:t>tests automatisés</a:t>
            </a:r>
            <a:endParaRPr lang="en-US" sz="800" dirty="0"/>
          </a:p>
        </p:txBody>
      </p:sp>
      <p:sp>
        <p:nvSpPr>
          <p:cNvPr id="14" name="Shape 12"/>
          <p:cNvSpPr/>
          <p:nvPr/>
        </p:nvSpPr>
        <p:spPr>
          <a:xfrm>
            <a:off x="6464808" y="1737360"/>
            <a:ext cx="5221224" cy="2759888"/>
          </a:xfrm>
          <a:prstGeom prst="roundRect">
            <a:avLst>
              <a:gd name="adj" fmla="val 2319"/>
            </a:avLst>
          </a:prstGeom>
          <a:solidFill>
            <a:srgbClr val="FFFFFF"/>
          </a:solidFill>
          <a:ln/>
          <a:effectLst>
            <a:outerShdw sx="100000" sy="100000" kx="0" ky="0" algn="bl" rotWithShape="0" blurRad="127000" dist="38100" dir="5400000">
              <a:srgbClr val="0D142E">
                <a:alpha val="28000"/>
              </a:srgbClr>
            </a:outerShdw>
          </a:effectLst>
        </p:spPr>
      </p:sp>
      <p:pic>
        <p:nvPicPr>
          <p:cNvPr id="15" name="Image 0" descr="/tmp/work/sms_imgs/fig27_audit.png">    </p:cNvPr>
          <p:cNvPicPr>
            <a:picLocks noChangeAspect="1"/>
          </p:cNvPicPr>
          <p:nvPr/>
        </p:nvPicPr>
        <p:blipFill>
          <a:blip r:embed="rId1"/>
          <a:stretch>
            <a:fillRect/>
          </a:stretch>
        </p:blipFill>
        <p:spPr>
          <a:xfrm>
            <a:off x="6537960" y="1810512"/>
            <a:ext cx="5074920" cy="2613584"/>
          </a:xfrm>
          <a:prstGeom prst="rect">
            <a:avLst/>
          </a:prstGeom>
        </p:spPr>
      </p:pic>
      <p:sp>
        <p:nvSpPr>
          <p:cNvPr id="16" name="Text 13"/>
          <p:cNvSpPr txBox="1"/>
          <p:nvPr/>
        </p:nvSpPr>
        <p:spPr>
          <a:xfrm>
            <a:off x="6537960" y="4561256"/>
            <a:ext cx="5074920" cy="502920"/>
          </a:xfrm>
          <a:prstGeom prst="rect">
            <a:avLst/>
          </a:prstGeom>
          <a:noFill/>
          <a:ln/>
        </p:spPr>
        <p:txBody>
          <a:bodyPr wrap="square" lIns="0" tIns="0" rIns="0" bIns="0" rtlCol="0" anchor="ctr"/>
          <a:lstStyle/>
          <a:p>
            <a:pPr indent="0" marL="0">
              <a:buNone/>
            </a:pPr>
            <a:r>
              <a:rPr lang="en-US" sz="1050" i="1" dirty="0">
                <a:solidFill>
                  <a:srgbClr val="B9C2EA"/>
                </a:solidFill>
                <a:latin typeface="Calibri" pitchFamily="34" charset="0"/>
                <a:ea typeface="Calibri" pitchFamily="34" charset="-122"/>
                <a:cs typeface="Calibri" pitchFamily="34" charset="-120"/>
              </a:rPr>
              <a:t>Journal d'audit : chaque connexion, création, modification et suppression est historisée avec utilisateur, module et adresse IP.</a:t>
            </a:r>
            <a:endParaRPr lang="en-US" sz="1050" dirty="0"/>
          </a:p>
        </p:txBody>
      </p:sp>
      <p:sp>
        <p:nvSpPr>
          <p:cNvPr id="17" name="Text 14"/>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18" name="Text 1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07 · RÉSULTATS</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Ce que le stage a permis de livrer</a:t>
            </a:r>
            <a:endParaRPr lang="en-US" sz="3000" dirty="0"/>
          </a:p>
        </p:txBody>
      </p:sp>
      <p:sp>
        <p:nvSpPr>
          <p:cNvPr id="4" name="Shape 2"/>
          <p:cNvSpPr/>
          <p:nvPr/>
        </p:nvSpPr>
        <p:spPr>
          <a:xfrm>
            <a:off x="548640" y="1645920"/>
            <a:ext cx="3611880" cy="1600200"/>
          </a:xfrm>
          <a:prstGeom prst="roundRect">
            <a:avLst>
              <a:gd name="adj" fmla="val 5714"/>
            </a:avLst>
          </a:prstGeom>
          <a:solidFill>
            <a:srgbClr val="E9EDF8"/>
          </a:solidFill>
          <a:ln/>
        </p:spPr>
      </p:sp>
      <p:sp>
        <p:nvSpPr>
          <p:cNvPr id="5" name="Text 3"/>
          <p:cNvSpPr txBox="1"/>
          <p:nvPr/>
        </p:nvSpPr>
        <p:spPr>
          <a:xfrm>
            <a:off x="777240" y="1810512"/>
            <a:ext cx="3154680" cy="685800"/>
          </a:xfrm>
          <a:prstGeom prst="rect">
            <a:avLst/>
          </a:prstGeom>
          <a:noFill/>
          <a:ln/>
        </p:spPr>
        <p:txBody>
          <a:bodyPr wrap="square" lIns="0" tIns="0" rIns="0" bIns="0" rtlCol="0" anchor="ctr"/>
          <a:lstStyle/>
          <a:p>
            <a:pPr indent="0" marL="0">
              <a:buNone/>
            </a:pPr>
            <a:r>
              <a:rPr lang="en-US" sz="3200" b="1" dirty="0">
                <a:solidFill>
                  <a:srgbClr val="16214B"/>
                </a:solidFill>
                <a:latin typeface="Cambria" pitchFamily="34" charset="0"/>
                <a:ea typeface="Cambria" pitchFamily="34" charset="-122"/>
                <a:cs typeface="Cambria" pitchFamily="34" charset="-120"/>
              </a:rPr>
              <a:t>61</a:t>
            </a:r>
            <a:endParaRPr lang="en-US" sz="3200" dirty="0"/>
          </a:p>
        </p:txBody>
      </p:sp>
      <p:sp>
        <p:nvSpPr>
          <p:cNvPr id="6" name="Text 4"/>
          <p:cNvSpPr txBox="1"/>
          <p:nvPr/>
        </p:nvSpPr>
        <p:spPr>
          <a:xfrm>
            <a:off x="777240" y="2514600"/>
            <a:ext cx="3154680" cy="640080"/>
          </a:xfrm>
          <a:prstGeom prst="rect">
            <a:avLst/>
          </a:prstGeom>
          <a:noFill/>
          <a:ln/>
        </p:spPr>
        <p:txBody>
          <a:bodyPr wrap="square" lIns="0" tIns="0" rIns="0" bIns="0" rtlCol="0" anchor="ctr"/>
          <a:lstStyle/>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modèles Django</a:t>
            </a:r>
            <a:endParaRPr lang="en-US" sz="1150" dirty="0"/>
          </a:p>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(60+ tables)</a:t>
            </a:r>
            <a:endParaRPr lang="en-US" sz="1150" dirty="0"/>
          </a:p>
        </p:txBody>
      </p:sp>
      <p:sp>
        <p:nvSpPr>
          <p:cNvPr id="7" name="Shape 5"/>
          <p:cNvSpPr/>
          <p:nvPr/>
        </p:nvSpPr>
        <p:spPr>
          <a:xfrm>
            <a:off x="4416552" y="1645920"/>
            <a:ext cx="3611880" cy="1600200"/>
          </a:xfrm>
          <a:prstGeom prst="roundRect">
            <a:avLst>
              <a:gd name="adj" fmla="val 5714"/>
            </a:avLst>
          </a:prstGeom>
          <a:solidFill>
            <a:srgbClr val="E9EDF8"/>
          </a:solidFill>
          <a:ln/>
        </p:spPr>
      </p:sp>
      <p:sp>
        <p:nvSpPr>
          <p:cNvPr id="8" name="Text 6"/>
          <p:cNvSpPr txBox="1"/>
          <p:nvPr/>
        </p:nvSpPr>
        <p:spPr>
          <a:xfrm>
            <a:off x="4645152" y="1810512"/>
            <a:ext cx="3154680" cy="685800"/>
          </a:xfrm>
          <a:prstGeom prst="rect">
            <a:avLst/>
          </a:prstGeom>
          <a:noFill/>
          <a:ln/>
        </p:spPr>
        <p:txBody>
          <a:bodyPr wrap="square" lIns="0" tIns="0" rIns="0" bIns="0" rtlCol="0" anchor="ctr"/>
          <a:lstStyle/>
          <a:p>
            <a:pPr indent="0" marL="0">
              <a:buNone/>
            </a:pPr>
            <a:r>
              <a:rPr lang="en-US" sz="3200" b="1" dirty="0">
                <a:solidFill>
                  <a:srgbClr val="16214B"/>
                </a:solidFill>
                <a:latin typeface="Cambria" pitchFamily="34" charset="0"/>
                <a:ea typeface="Cambria" pitchFamily="34" charset="-122"/>
                <a:cs typeface="Cambria" pitchFamily="34" charset="-120"/>
              </a:rPr>
              <a:t>34+</a:t>
            </a:r>
            <a:endParaRPr lang="en-US" sz="3200" dirty="0"/>
          </a:p>
        </p:txBody>
      </p:sp>
      <p:sp>
        <p:nvSpPr>
          <p:cNvPr id="9" name="Text 7"/>
          <p:cNvSpPr txBox="1"/>
          <p:nvPr/>
        </p:nvSpPr>
        <p:spPr>
          <a:xfrm>
            <a:off x="4645152" y="2514600"/>
            <a:ext cx="3154680" cy="640080"/>
          </a:xfrm>
          <a:prstGeom prst="rect">
            <a:avLst/>
          </a:prstGeom>
          <a:noFill/>
          <a:ln/>
        </p:spPr>
        <p:txBody>
          <a:bodyPr wrap="square" lIns="0" tIns="0" rIns="0" bIns="0" rtlCol="0" anchor="ctr"/>
          <a:lstStyle/>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pages frontend</a:t>
            </a:r>
            <a:endParaRPr lang="en-US" sz="1150" dirty="0"/>
          </a:p>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(React)</a:t>
            </a:r>
            <a:endParaRPr lang="en-US" sz="1150" dirty="0"/>
          </a:p>
        </p:txBody>
      </p:sp>
      <p:sp>
        <p:nvSpPr>
          <p:cNvPr id="10" name="Shape 8"/>
          <p:cNvSpPr/>
          <p:nvPr/>
        </p:nvSpPr>
        <p:spPr>
          <a:xfrm>
            <a:off x="8284464" y="1645920"/>
            <a:ext cx="3611880" cy="1600200"/>
          </a:xfrm>
          <a:prstGeom prst="roundRect">
            <a:avLst>
              <a:gd name="adj" fmla="val 5714"/>
            </a:avLst>
          </a:prstGeom>
          <a:solidFill>
            <a:srgbClr val="E9EDF8"/>
          </a:solidFill>
          <a:ln/>
        </p:spPr>
      </p:sp>
      <p:sp>
        <p:nvSpPr>
          <p:cNvPr id="11" name="Text 9"/>
          <p:cNvSpPr txBox="1"/>
          <p:nvPr/>
        </p:nvSpPr>
        <p:spPr>
          <a:xfrm>
            <a:off x="8513064" y="1810512"/>
            <a:ext cx="3154680" cy="685800"/>
          </a:xfrm>
          <a:prstGeom prst="rect">
            <a:avLst/>
          </a:prstGeom>
          <a:noFill/>
          <a:ln/>
        </p:spPr>
        <p:txBody>
          <a:bodyPr wrap="square" lIns="0" tIns="0" rIns="0" bIns="0" rtlCol="0" anchor="ctr"/>
          <a:lstStyle/>
          <a:p>
            <a:pPr indent="0" marL="0">
              <a:buNone/>
            </a:pPr>
            <a:r>
              <a:rPr lang="en-US" sz="3200" b="1" dirty="0">
                <a:solidFill>
                  <a:srgbClr val="16214B"/>
                </a:solidFill>
                <a:latin typeface="Cambria" pitchFamily="34" charset="0"/>
                <a:ea typeface="Cambria" pitchFamily="34" charset="-122"/>
                <a:cs typeface="Cambria" pitchFamily="34" charset="-120"/>
              </a:rPr>
              <a:t>~20 700</a:t>
            </a:r>
            <a:endParaRPr lang="en-US" sz="3200" dirty="0"/>
          </a:p>
        </p:txBody>
      </p:sp>
      <p:sp>
        <p:nvSpPr>
          <p:cNvPr id="12" name="Text 10"/>
          <p:cNvSpPr txBox="1"/>
          <p:nvPr/>
        </p:nvSpPr>
        <p:spPr>
          <a:xfrm>
            <a:off x="8513064" y="2514600"/>
            <a:ext cx="3154680" cy="640080"/>
          </a:xfrm>
          <a:prstGeom prst="rect">
            <a:avLst/>
          </a:prstGeom>
          <a:noFill/>
          <a:ln/>
        </p:spPr>
        <p:txBody>
          <a:bodyPr wrap="square" lIns="0" tIns="0" rIns="0" bIns="0" rtlCol="0" anchor="ctr"/>
          <a:lstStyle/>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lignes de code</a:t>
            </a:r>
            <a:endParaRPr lang="en-US" sz="1150" dirty="0"/>
          </a:p>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frontend</a:t>
            </a:r>
            <a:endParaRPr lang="en-US" sz="1150" dirty="0"/>
          </a:p>
        </p:txBody>
      </p:sp>
      <p:sp>
        <p:nvSpPr>
          <p:cNvPr id="13" name="Shape 11"/>
          <p:cNvSpPr/>
          <p:nvPr/>
        </p:nvSpPr>
        <p:spPr>
          <a:xfrm>
            <a:off x="548640" y="3502152"/>
            <a:ext cx="3611880" cy="1600200"/>
          </a:xfrm>
          <a:prstGeom prst="roundRect">
            <a:avLst>
              <a:gd name="adj" fmla="val 5714"/>
            </a:avLst>
          </a:prstGeom>
          <a:solidFill>
            <a:srgbClr val="E9EDF8"/>
          </a:solidFill>
          <a:ln/>
        </p:spPr>
      </p:sp>
      <p:sp>
        <p:nvSpPr>
          <p:cNvPr id="14" name="Text 12"/>
          <p:cNvSpPr txBox="1"/>
          <p:nvPr/>
        </p:nvSpPr>
        <p:spPr>
          <a:xfrm>
            <a:off x="777240" y="3666744"/>
            <a:ext cx="3154680" cy="685800"/>
          </a:xfrm>
          <a:prstGeom prst="rect">
            <a:avLst/>
          </a:prstGeom>
          <a:noFill/>
          <a:ln/>
        </p:spPr>
        <p:txBody>
          <a:bodyPr wrap="square" lIns="0" tIns="0" rIns="0" bIns="0" rtlCol="0" anchor="ctr"/>
          <a:lstStyle/>
          <a:p>
            <a:pPr indent="0" marL="0">
              <a:buNone/>
            </a:pPr>
            <a:r>
              <a:rPr lang="en-US" sz="3200" b="1" dirty="0">
                <a:solidFill>
                  <a:srgbClr val="16214B"/>
                </a:solidFill>
                <a:latin typeface="Cambria" pitchFamily="34" charset="0"/>
                <a:ea typeface="Cambria" pitchFamily="34" charset="-122"/>
                <a:cs typeface="Cambria" pitchFamily="34" charset="-120"/>
              </a:rPr>
              <a:t>7</a:t>
            </a:r>
            <a:endParaRPr lang="en-US" sz="3200" dirty="0"/>
          </a:p>
        </p:txBody>
      </p:sp>
      <p:sp>
        <p:nvSpPr>
          <p:cNvPr id="15" name="Text 13"/>
          <p:cNvSpPr txBox="1"/>
          <p:nvPr/>
        </p:nvSpPr>
        <p:spPr>
          <a:xfrm>
            <a:off x="777240" y="4370832"/>
            <a:ext cx="3154680" cy="640080"/>
          </a:xfrm>
          <a:prstGeom prst="rect">
            <a:avLst/>
          </a:prstGeom>
          <a:noFill/>
          <a:ln/>
        </p:spPr>
        <p:txBody>
          <a:bodyPr wrap="square" lIns="0" tIns="0" rIns="0" bIns="0" rtlCol="0" anchor="ctr"/>
          <a:lstStyle/>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rôles applicatifs</a:t>
            </a:r>
            <a:endParaRPr lang="en-US" sz="1150" dirty="0"/>
          </a:p>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distincts</a:t>
            </a:r>
            <a:endParaRPr lang="en-US" sz="1150" dirty="0"/>
          </a:p>
        </p:txBody>
      </p:sp>
      <p:sp>
        <p:nvSpPr>
          <p:cNvPr id="16" name="Shape 14"/>
          <p:cNvSpPr/>
          <p:nvPr/>
        </p:nvSpPr>
        <p:spPr>
          <a:xfrm>
            <a:off x="4416552" y="3502152"/>
            <a:ext cx="3611880" cy="1600200"/>
          </a:xfrm>
          <a:prstGeom prst="roundRect">
            <a:avLst>
              <a:gd name="adj" fmla="val 5714"/>
            </a:avLst>
          </a:prstGeom>
          <a:solidFill>
            <a:srgbClr val="E9EDF8"/>
          </a:solidFill>
          <a:ln/>
        </p:spPr>
      </p:sp>
      <p:sp>
        <p:nvSpPr>
          <p:cNvPr id="17" name="Text 15"/>
          <p:cNvSpPr txBox="1"/>
          <p:nvPr/>
        </p:nvSpPr>
        <p:spPr>
          <a:xfrm>
            <a:off x="4645152" y="3666744"/>
            <a:ext cx="3154680" cy="685800"/>
          </a:xfrm>
          <a:prstGeom prst="rect">
            <a:avLst/>
          </a:prstGeom>
          <a:noFill/>
          <a:ln/>
        </p:spPr>
        <p:txBody>
          <a:bodyPr wrap="square" lIns="0" tIns="0" rIns="0" bIns="0" rtlCol="0" anchor="ctr"/>
          <a:lstStyle/>
          <a:p>
            <a:pPr indent="0" marL="0">
              <a:buNone/>
            </a:pPr>
            <a:r>
              <a:rPr lang="en-US" sz="3200" b="1" dirty="0">
                <a:solidFill>
                  <a:srgbClr val="16214B"/>
                </a:solidFill>
                <a:latin typeface="Cambria" pitchFamily="34" charset="0"/>
                <a:ea typeface="Cambria" pitchFamily="34" charset="-122"/>
                <a:cs typeface="Cambria" pitchFamily="34" charset="-120"/>
              </a:rPr>
              <a:t>12</a:t>
            </a:r>
            <a:endParaRPr lang="en-US" sz="3200" dirty="0"/>
          </a:p>
        </p:txBody>
      </p:sp>
      <p:sp>
        <p:nvSpPr>
          <p:cNvPr id="18" name="Text 16"/>
          <p:cNvSpPr txBox="1"/>
          <p:nvPr/>
        </p:nvSpPr>
        <p:spPr>
          <a:xfrm>
            <a:off x="4645152" y="4370832"/>
            <a:ext cx="3154680" cy="640080"/>
          </a:xfrm>
          <a:prstGeom prst="rect">
            <a:avLst/>
          </a:prstGeom>
          <a:noFill/>
          <a:ln/>
        </p:spPr>
        <p:txBody>
          <a:bodyPr wrap="square" lIns="0" tIns="0" rIns="0" bIns="0" rtlCol="0" anchor="ctr"/>
          <a:lstStyle/>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domaines</a:t>
            </a:r>
            <a:endParaRPr lang="en-US" sz="1150" dirty="0"/>
          </a:p>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fonctionnels</a:t>
            </a:r>
            <a:endParaRPr lang="en-US" sz="1150" dirty="0"/>
          </a:p>
        </p:txBody>
      </p:sp>
      <p:sp>
        <p:nvSpPr>
          <p:cNvPr id="19" name="Shape 17"/>
          <p:cNvSpPr/>
          <p:nvPr/>
        </p:nvSpPr>
        <p:spPr>
          <a:xfrm>
            <a:off x="8284464" y="3502152"/>
            <a:ext cx="3611880" cy="1600200"/>
          </a:xfrm>
          <a:prstGeom prst="roundRect">
            <a:avLst>
              <a:gd name="adj" fmla="val 5714"/>
            </a:avLst>
          </a:prstGeom>
          <a:solidFill>
            <a:srgbClr val="E9EDF8"/>
          </a:solidFill>
          <a:ln/>
        </p:spPr>
      </p:sp>
      <p:sp>
        <p:nvSpPr>
          <p:cNvPr id="20" name="Text 18"/>
          <p:cNvSpPr txBox="1"/>
          <p:nvPr/>
        </p:nvSpPr>
        <p:spPr>
          <a:xfrm>
            <a:off x="8513064" y="3666744"/>
            <a:ext cx="3154680" cy="685800"/>
          </a:xfrm>
          <a:prstGeom prst="rect">
            <a:avLst/>
          </a:prstGeom>
          <a:noFill/>
          <a:ln/>
        </p:spPr>
        <p:txBody>
          <a:bodyPr wrap="square" lIns="0" tIns="0" rIns="0" bIns="0" rtlCol="0" anchor="ctr"/>
          <a:lstStyle/>
          <a:p>
            <a:pPr indent="0" marL="0">
              <a:buNone/>
            </a:pPr>
            <a:r>
              <a:rPr lang="en-US" sz="3200" b="1" dirty="0">
                <a:solidFill>
                  <a:srgbClr val="16214B"/>
                </a:solidFill>
                <a:latin typeface="Cambria" pitchFamily="34" charset="0"/>
                <a:ea typeface="Cambria" pitchFamily="34" charset="-122"/>
                <a:cs typeface="Cambria" pitchFamily="34" charset="-120"/>
              </a:rPr>
              <a:t>85</a:t>
            </a:r>
            <a:endParaRPr lang="en-US" sz="3200" dirty="0"/>
          </a:p>
        </p:txBody>
      </p:sp>
      <p:sp>
        <p:nvSpPr>
          <p:cNvPr id="21" name="Text 19"/>
          <p:cNvSpPr txBox="1"/>
          <p:nvPr/>
        </p:nvSpPr>
        <p:spPr>
          <a:xfrm>
            <a:off x="8513064" y="4370832"/>
            <a:ext cx="3154680" cy="640080"/>
          </a:xfrm>
          <a:prstGeom prst="rect">
            <a:avLst/>
          </a:prstGeom>
          <a:noFill/>
          <a:ln/>
        </p:spPr>
        <p:txBody>
          <a:bodyPr wrap="square" lIns="0" tIns="0" rIns="0" bIns="0" rtlCol="0" anchor="ctr"/>
          <a:lstStyle/>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tests automatisés</a:t>
            </a:r>
            <a:endParaRPr lang="en-US" sz="1150" dirty="0"/>
          </a:p>
          <a:p>
            <a:pPr indent="0" marL="0">
              <a:lnSpc>
                <a:spcPct val="115000"/>
              </a:lnSpc>
              <a:buNone/>
            </a:pPr>
            <a:r>
              <a:rPr lang="en-US" sz="1150" dirty="0">
                <a:solidFill>
                  <a:srgbClr val="1A1F2E"/>
                </a:solidFill>
                <a:latin typeface="Calibri" pitchFamily="34" charset="0"/>
                <a:ea typeface="Calibri" pitchFamily="34" charset="-122"/>
                <a:cs typeface="Calibri" pitchFamily="34" charset="-120"/>
              </a:rPr>
              <a:t>exécutés</a:t>
            </a:r>
            <a:endParaRPr lang="en-US" sz="1150" dirty="0"/>
          </a:p>
        </p:txBody>
      </p:sp>
      <p:sp>
        <p:nvSpPr>
          <p:cNvPr id="22" name="Text 20"/>
          <p:cNvSpPr txBox="1"/>
          <p:nvPr/>
        </p:nvSpPr>
        <p:spPr>
          <a:xfrm>
            <a:off x="548640" y="5623560"/>
            <a:ext cx="11064240" cy="548640"/>
          </a:xfrm>
          <a:prstGeom prst="rect">
            <a:avLst/>
          </a:prstGeom>
          <a:noFill/>
          <a:ln/>
        </p:spPr>
        <p:txBody>
          <a:bodyPr wrap="square" lIns="0" tIns="0" rIns="0" bIns="0" rtlCol="0" anchor="ctr"/>
          <a:lstStyle/>
          <a:p>
            <a:pPr indent="0" marL="0">
              <a:lnSpc>
                <a:spcPct val="120000"/>
              </a:lnSpc>
              <a:buNone/>
            </a:pPr>
            <a:r>
              <a:rPr lang="en-US" sz="1200" i="1" dirty="0">
                <a:solidFill>
                  <a:srgbClr val="5B6478"/>
                </a:solidFill>
                <a:latin typeface="Calibri" pitchFamily="34" charset="0"/>
                <a:ea typeface="Calibri" pitchFamily="34" charset="-122"/>
                <a:cs typeface="Calibri" pitchFamily="34" charset="-120"/>
              </a:rPr>
              <a:t>En deux mois de stage, SMS couvre l'ensemble du cycle scolaire — inscription, notes, planning, paiements — avec une isolation stricte entre établissements et une traçabilité complète des actions sensibles.</a:t>
            </a:r>
            <a:endParaRPr lang="en-US" sz="1200" dirty="0"/>
          </a:p>
        </p:txBody>
      </p:sp>
      <p:sp>
        <p:nvSpPr>
          <p:cNvPr id="23" name="Text 21"/>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24" name="Text 22"/>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DF8"/>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6214B"/>
                </a:solidFill>
                <a:latin typeface="Calibri" pitchFamily="34" charset="0"/>
                <a:ea typeface="Calibri" pitchFamily="34" charset="-122"/>
                <a:cs typeface="Calibri" pitchFamily="34" charset="-120"/>
              </a:rPr>
              <a:t>07 · BILAN</a:t>
            </a:r>
            <a:endParaRPr lang="en-US" sz="1200" dirty="0"/>
          </a:p>
        </p:txBody>
      </p:sp>
      <p:sp>
        <p:nvSpPr>
          <p:cNvPr id="3" name="Text 1"/>
          <p:cNvSpPr txBox="1"/>
          <p:nvPr/>
        </p:nvSpPr>
        <p:spPr>
          <a:xfrm>
            <a:off x="548640" y="658368"/>
            <a:ext cx="10789920" cy="658368"/>
          </a:xfrm>
          <a:prstGeom prst="rect">
            <a:avLst/>
          </a:prstGeom>
          <a:noFill/>
          <a:ln/>
        </p:spPr>
        <p:txBody>
          <a:bodyPr wrap="square" lIns="0" tIns="0" rIns="0" bIns="0" rtlCol="0" anchor="ctr"/>
          <a:lstStyle/>
          <a:p>
            <a:pPr indent="0" marL="0">
              <a:buNone/>
            </a:pPr>
            <a:r>
              <a:rPr lang="en-US" sz="3000" b="1" dirty="0">
                <a:solidFill>
                  <a:srgbClr val="1A1F2E"/>
                </a:solidFill>
                <a:latin typeface="Cambria" pitchFamily="34" charset="0"/>
                <a:ea typeface="Cambria" pitchFamily="34" charset="-122"/>
                <a:cs typeface="Cambria" pitchFamily="34" charset="-120"/>
              </a:rPr>
              <a:t>Limites du stage &amp; perspectives d'évolution</a:t>
            </a:r>
            <a:endParaRPr lang="en-US" sz="3000" dirty="0"/>
          </a:p>
        </p:txBody>
      </p:sp>
      <p:sp>
        <p:nvSpPr>
          <p:cNvPr id="4" name="Shape 2"/>
          <p:cNvSpPr/>
          <p:nvPr/>
        </p:nvSpPr>
        <p:spPr>
          <a:xfrm>
            <a:off x="548640" y="1645920"/>
            <a:ext cx="5349240" cy="4206240"/>
          </a:xfrm>
          <a:prstGeom prst="roundRect">
            <a:avLst>
              <a:gd name="adj" fmla="val 2174"/>
            </a:avLst>
          </a:prstGeom>
          <a:solidFill>
            <a:srgbClr val="FFFFFF"/>
          </a:solidFill>
          <a:ln/>
          <a:effectLst>
            <a:outerShdw sx="100000" sy="100000" kx="0" ky="0" algn="bl" rotWithShape="0" blurRad="127000" dist="38100" dir="5400000">
              <a:srgbClr val="0D142E">
                <a:alpha val="28000"/>
              </a:srgbClr>
            </a:outerShdw>
          </a:effectLst>
        </p:spPr>
      </p:sp>
      <p:sp>
        <p:nvSpPr>
          <p:cNvPr id="5" name="Shape 3"/>
          <p:cNvSpPr/>
          <p:nvPr/>
        </p:nvSpPr>
        <p:spPr>
          <a:xfrm>
            <a:off x="822960" y="1874520"/>
            <a:ext cx="502920" cy="502920"/>
          </a:xfrm>
          <a:prstGeom prst="ellipse">
            <a:avLst/>
          </a:prstGeom>
          <a:solidFill>
            <a:srgbClr val="B23A48"/>
          </a:solidFill>
          <a:ln/>
        </p:spPr>
      </p:sp>
      <p:pic>
        <p:nvPicPr>
          <p:cNvPr id="6" name="Image 0" descr="/tmp/work/icons/sms/alert.png">    </p:cNvPr>
          <p:cNvPicPr>
            <a:picLocks noChangeAspect="1"/>
          </p:cNvPicPr>
          <p:nvPr/>
        </p:nvPicPr>
        <p:blipFill>
          <a:blip r:embed="rId1"/>
          <a:stretch>
            <a:fillRect/>
          </a:stretch>
        </p:blipFill>
        <p:spPr>
          <a:xfrm>
            <a:off x="936117" y="1987677"/>
            <a:ext cx="276606" cy="276606"/>
          </a:xfrm>
          <a:prstGeom prst="rect">
            <a:avLst/>
          </a:prstGeom>
        </p:spPr>
      </p:pic>
      <p:sp>
        <p:nvSpPr>
          <p:cNvPr id="7" name="Text 4"/>
          <p:cNvSpPr txBox="1"/>
          <p:nvPr/>
        </p:nvSpPr>
        <p:spPr>
          <a:xfrm>
            <a:off x="1463040" y="1874520"/>
            <a:ext cx="4114800" cy="502920"/>
          </a:xfrm>
          <a:prstGeom prst="rect">
            <a:avLst/>
          </a:prstGeom>
          <a:noFill/>
          <a:ln/>
        </p:spPr>
        <p:txBody>
          <a:bodyPr wrap="square" lIns="0" tIns="0" rIns="0" bIns="0" rtlCol="0" anchor="ctr"/>
          <a:lstStyle/>
          <a:p>
            <a:pPr indent="0" marL="0">
              <a:buNone/>
            </a:pPr>
            <a:r>
              <a:rPr lang="en-US" sz="1700" b="1" dirty="0">
                <a:solidFill>
                  <a:srgbClr val="1A1F2E"/>
                </a:solidFill>
                <a:latin typeface="Cambria" pitchFamily="34" charset="0"/>
                <a:ea typeface="Cambria" pitchFamily="34" charset="-122"/>
                <a:cs typeface="Cambria" pitchFamily="34" charset="-120"/>
              </a:rPr>
              <a:t>Limites (fin de stage)</a:t>
            </a:r>
            <a:endParaRPr lang="en-US" sz="1700" dirty="0"/>
          </a:p>
        </p:txBody>
      </p:sp>
      <p:sp>
        <p:nvSpPr>
          <p:cNvPr id="8" name="Text 5"/>
          <p:cNvSpPr txBox="1"/>
          <p:nvPr/>
        </p:nvSpPr>
        <p:spPr>
          <a:xfrm>
            <a:off x="868680" y="2606040"/>
            <a:ext cx="4709160" cy="310896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250" dirty="0">
                <a:solidFill>
                  <a:srgbClr val="1A1F2E"/>
                </a:solidFill>
                <a:latin typeface="Calibri" pitchFamily="34" charset="0"/>
                <a:ea typeface="Calibri" pitchFamily="34" charset="-122"/>
                <a:cs typeface="Calibri" pitchFamily="34" charset="-120"/>
              </a:rPr>
              <a:t>Pas de notifications automatiques par SMS ou email</a:t>
            </a:r>
            <a:endParaRPr lang="en-US" sz="1250" dirty="0"/>
          </a:p>
          <a:p>
            <a:pPr marL="342900" indent="-342900">
              <a:lnSpc>
                <a:spcPct val="120000"/>
              </a:lnSpc>
              <a:spcAft>
                <a:spcPts val="1200"/>
              </a:spcAft>
              <a:buSzPct val="100000"/>
              <a:buChar char="•"/>
            </a:pPr>
            <a:r>
              <a:rPr lang="en-US" sz="1250" dirty="0">
                <a:solidFill>
                  <a:srgbClr val="1A1F2E"/>
                </a:solidFill>
                <a:latin typeface="Calibri" pitchFamily="34" charset="0"/>
                <a:ea typeface="Calibri" pitchFamily="34" charset="-122"/>
                <a:cs typeface="Calibri" pitchFamily="34" charset="-120"/>
              </a:rPr>
              <a:t>Pas d'application mobile native</a:t>
            </a:r>
            <a:endParaRPr lang="en-US" sz="1250" dirty="0"/>
          </a:p>
          <a:p>
            <a:pPr marL="342900" indent="-342900">
              <a:lnSpc>
                <a:spcPct val="120000"/>
              </a:lnSpc>
              <a:spcAft>
                <a:spcPts val="1200"/>
              </a:spcAft>
              <a:buSzPct val="100000"/>
              <a:buChar char="•"/>
            </a:pPr>
            <a:r>
              <a:rPr lang="en-US" sz="1250" dirty="0">
                <a:solidFill>
                  <a:srgbClr val="1A1F2E"/>
                </a:solidFill>
                <a:latin typeface="Calibri" pitchFamily="34" charset="0"/>
                <a:ea typeface="Calibri" pitchFamily="34" charset="-122"/>
                <a:cs typeface="Calibri" pitchFamily="34" charset="-120"/>
              </a:rPr>
              <a:t>Déploiement cloud non réalisé durant le stage</a:t>
            </a:r>
            <a:endParaRPr lang="en-US" sz="1250" dirty="0"/>
          </a:p>
          <a:p>
            <a:pPr marL="342900" indent="-342900">
              <a:lnSpc>
                <a:spcPct val="120000"/>
              </a:lnSpc>
              <a:spcAft>
                <a:spcPts val="1200"/>
              </a:spcAft>
              <a:buSzPct val="100000"/>
              <a:buChar char="•"/>
            </a:pPr>
            <a:r>
              <a:rPr lang="en-US" sz="1250" dirty="0">
                <a:solidFill>
                  <a:srgbClr val="1A1F2E"/>
                </a:solidFill>
                <a:latin typeface="Calibri" pitchFamily="34" charset="0"/>
                <a:ea typeface="Calibri" pitchFamily="34" charset="-122"/>
                <a:cs typeface="Calibri" pitchFamily="34" charset="-120"/>
              </a:rPr>
              <a:t>Pas de module de business intelligence (BI)</a:t>
            </a:r>
            <a:endParaRPr lang="en-US" sz="1250" dirty="0"/>
          </a:p>
        </p:txBody>
      </p:sp>
      <p:sp>
        <p:nvSpPr>
          <p:cNvPr id="9" name="Shape 6"/>
          <p:cNvSpPr/>
          <p:nvPr/>
        </p:nvSpPr>
        <p:spPr>
          <a:xfrm>
            <a:off x="6263640" y="1645920"/>
            <a:ext cx="5349240" cy="4206240"/>
          </a:xfrm>
          <a:prstGeom prst="roundRect">
            <a:avLst>
              <a:gd name="adj" fmla="val 2174"/>
            </a:avLst>
          </a:prstGeom>
          <a:solidFill>
            <a:srgbClr val="FFFFFF"/>
          </a:solidFill>
          <a:ln/>
          <a:effectLst>
            <a:outerShdw sx="100000" sy="100000" kx="0" ky="0" algn="bl" rotWithShape="0" blurRad="127000" dist="38100" dir="5400000">
              <a:srgbClr val="0D142E">
                <a:alpha val="28000"/>
              </a:srgbClr>
            </a:outerShdw>
          </a:effectLst>
        </p:spPr>
      </p:sp>
      <p:sp>
        <p:nvSpPr>
          <p:cNvPr id="10" name="Shape 7"/>
          <p:cNvSpPr/>
          <p:nvPr/>
        </p:nvSpPr>
        <p:spPr>
          <a:xfrm>
            <a:off x="6537960" y="1874520"/>
            <a:ext cx="502920" cy="502920"/>
          </a:xfrm>
          <a:prstGeom prst="ellipse">
            <a:avLst/>
          </a:prstGeom>
          <a:solidFill>
            <a:srgbClr val="16214B"/>
          </a:solidFill>
          <a:ln/>
        </p:spPr>
      </p:sp>
      <p:pic>
        <p:nvPicPr>
          <p:cNvPr id="11" name="Image 1" descr="/tmp/work/icons/sms/rocket.png">    </p:cNvPr>
          <p:cNvPicPr>
            <a:picLocks noChangeAspect="1"/>
          </p:cNvPicPr>
          <p:nvPr/>
        </p:nvPicPr>
        <p:blipFill>
          <a:blip r:embed="rId2"/>
          <a:stretch>
            <a:fillRect/>
          </a:stretch>
        </p:blipFill>
        <p:spPr>
          <a:xfrm>
            <a:off x="6651117" y="1987677"/>
            <a:ext cx="276606" cy="276606"/>
          </a:xfrm>
          <a:prstGeom prst="rect">
            <a:avLst/>
          </a:prstGeom>
        </p:spPr>
      </p:pic>
      <p:sp>
        <p:nvSpPr>
          <p:cNvPr id="12" name="Text 8"/>
          <p:cNvSpPr txBox="1"/>
          <p:nvPr/>
        </p:nvSpPr>
        <p:spPr>
          <a:xfrm>
            <a:off x="7178040" y="1874520"/>
            <a:ext cx="4114800" cy="502920"/>
          </a:xfrm>
          <a:prstGeom prst="rect">
            <a:avLst/>
          </a:prstGeom>
          <a:noFill/>
          <a:ln/>
        </p:spPr>
        <p:txBody>
          <a:bodyPr wrap="square" lIns="0" tIns="0" rIns="0" bIns="0" rtlCol="0" anchor="ctr"/>
          <a:lstStyle/>
          <a:p>
            <a:pPr indent="0" marL="0">
              <a:buNone/>
            </a:pPr>
            <a:r>
              <a:rPr lang="en-US" sz="1700" b="1" dirty="0">
                <a:solidFill>
                  <a:srgbClr val="1A1F2E"/>
                </a:solidFill>
                <a:latin typeface="Cambria" pitchFamily="34" charset="0"/>
                <a:ea typeface="Cambria" pitchFamily="34" charset="-122"/>
                <a:cs typeface="Cambria" pitchFamily="34" charset="-120"/>
              </a:rPr>
              <a:t>Perspectives</a:t>
            </a:r>
            <a:endParaRPr lang="en-US" sz="1700" dirty="0"/>
          </a:p>
        </p:txBody>
      </p:sp>
      <p:sp>
        <p:nvSpPr>
          <p:cNvPr id="13" name="Text 9"/>
          <p:cNvSpPr txBox="1"/>
          <p:nvPr/>
        </p:nvSpPr>
        <p:spPr>
          <a:xfrm>
            <a:off x="6583680" y="2606040"/>
            <a:ext cx="4709160" cy="310896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250" dirty="0">
                <a:solidFill>
                  <a:srgbClr val="1A1F2E"/>
                </a:solidFill>
                <a:latin typeface="Calibri" pitchFamily="34" charset="0"/>
                <a:ea typeface="Calibri" pitchFamily="34" charset="-122"/>
                <a:cs typeface="Calibri" pitchFamily="34" charset="-120"/>
              </a:rPr>
              <a:t>Notifications SMS / email via API Orange ou MTN</a:t>
            </a:r>
            <a:endParaRPr lang="en-US" sz="1250" dirty="0"/>
          </a:p>
          <a:p>
            <a:pPr marL="342900" indent="-342900">
              <a:lnSpc>
                <a:spcPct val="120000"/>
              </a:lnSpc>
              <a:spcAft>
                <a:spcPts val="1200"/>
              </a:spcAft>
              <a:buSzPct val="100000"/>
              <a:buChar char="•"/>
            </a:pPr>
            <a:r>
              <a:rPr lang="en-US" sz="1250" dirty="0">
                <a:solidFill>
                  <a:srgbClr val="1A1F2E"/>
                </a:solidFill>
                <a:latin typeface="Calibri" pitchFamily="34" charset="0"/>
                <a:ea typeface="Calibri" pitchFamily="34" charset="-122"/>
                <a:cs typeface="Calibri" pitchFamily="34" charset="-120"/>
              </a:rPr>
              <a:t>Application mobile en React Native</a:t>
            </a:r>
            <a:endParaRPr lang="en-US" sz="1250" dirty="0"/>
          </a:p>
          <a:p>
            <a:pPr marL="342900" indent="-342900">
              <a:lnSpc>
                <a:spcPct val="120000"/>
              </a:lnSpc>
              <a:spcAft>
                <a:spcPts val="1200"/>
              </a:spcAft>
              <a:buSzPct val="100000"/>
              <a:buChar char="•"/>
            </a:pPr>
            <a:r>
              <a:rPr lang="en-US" sz="1250" dirty="0">
                <a:solidFill>
                  <a:srgbClr val="1A1F2E"/>
                </a:solidFill>
                <a:latin typeface="Calibri" pitchFamily="34" charset="0"/>
                <a:ea typeface="Calibri" pitchFamily="34" charset="-122"/>
                <a:cs typeface="Calibri" pitchFamily="34" charset="-120"/>
              </a:rPr>
              <a:t>Déploiement cloud (Nginx + Gunicorn)</a:t>
            </a:r>
            <a:endParaRPr lang="en-US" sz="1250" dirty="0"/>
          </a:p>
          <a:p>
            <a:pPr marL="342900" indent="-342900">
              <a:lnSpc>
                <a:spcPct val="120000"/>
              </a:lnSpc>
              <a:spcAft>
                <a:spcPts val="1200"/>
              </a:spcAft>
              <a:buSzPct val="100000"/>
              <a:buChar char="•"/>
            </a:pPr>
            <a:r>
              <a:rPr lang="en-US" sz="1250" dirty="0">
                <a:solidFill>
                  <a:srgbClr val="1A1F2E"/>
                </a:solidFill>
                <a:latin typeface="Calibri" pitchFamily="34" charset="0"/>
                <a:ea typeface="Calibri" pitchFamily="34" charset="-122"/>
                <a:cs typeface="Calibri" pitchFamily="34" charset="-120"/>
              </a:rPr>
              <a:t>Module BI et évolution vers un modèle SaaS</a:t>
            </a:r>
            <a:endParaRPr lang="en-US" sz="1250" dirty="0"/>
          </a:p>
        </p:txBody>
      </p:sp>
      <p:sp>
        <p:nvSpPr>
          <p:cNvPr id="14" name="Text 10"/>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Ces évolutions n'ont pas été réalisées durant le stage (5 mai – 6 juillet 2025) — elles constituent la feuille de route identifiée à son terme.</a:t>
            </a:r>
            <a:endParaRPr lang="en-US" sz="950" dirty="0"/>
          </a:p>
        </p:txBody>
      </p:sp>
      <p:sp>
        <p:nvSpPr>
          <p:cNvPr id="15" name="Text 11"/>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SMS — Soutenance de Licence</a:t>
            </a:r>
            <a:endParaRPr lang="en-US" sz="900" dirty="0"/>
          </a:p>
        </p:txBody>
      </p:sp>
      <p:sp>
        <p:nvSpPr>
          <p:cNvPr id="16" name="Text 12"/>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42E"/>
        </a:solidFill>
      </p:bgPr>
    </p:bg>
    <p:spTree>
      <p:nvGrpSpPr>
        <p:cNvPr id="1" name=""/>
        <p:cNvGrpSpPr/>
        <p:nvPr/>
      </p:nvGrpSpPr>
      <p:grpSpPr>
        <a:xfrm>
          <a:off x="0" y="0"/>
          <a:ext cx="0" cy="0"/>
          <a:chOff x="0" y="0"/>
          <a:chExt cx="0" cy="0"/>
        </a:xfrm>
      </p:grpSpPr>
      <p:sp>
        <p:nvSpPr>
          <p:cNvPr id="2" name="Shape 0"/>
          <p:cNvSpPr/>
          <p:nvPr/>
        </p:nvSpPr>
        <p:spPr>
          <a:xfrm>
            <a:off x="5730088" y="1005840"/>
            <a:ext cx="731520" cy="731520"/>
          </a:xfrm>
          <a:prstGeom prst="ellipse">
            <a:avLst/>
          </a:prstGeom>
          <a:solidFill>
            <a:srgbClr val="27356E"/>
          </a:solidFill>
          <a:ln/>
        </p:spPr>
      </p:sp>
      <p:pic>
        <p:nvPicPr>
          <p:cNvPr id="3" name="Image 0" descr="/tmp/work/icons/sms/gradcap.png">    </p:cNvPr>
          <p:cNvPicPr>
            <a:picLocks noChangeAspect="1"/>
          </p:cNvPicPr>
          <p:nvPr/>
        </p:nvPicPr>
        <p:blipFill>
          <a:blip r:embed="rId1"/>
          <a:stretch>
            <a:fillRect/>
          </a:stretch>
        </p:blipFill>
        <p:spPr>
          <a:xfrm>
            <a:off x="5905652" y="1181405"/>
            <a:ext cx="380390" cy="380390"/>
          </a:xfrm>
          <a:prstGeom prst="rect">
            <a:avLst/>
          </a:prstGeom>
        </p:spPr>
      </p:pic>
      <p:sp>
        <p:nvSpPr>
          <p:cNvPr id="4" name="Text 1"/>
          <p:cNvSpPr txBox="1"/>
          <p:nvPr/>
        </p:nvSpPr>
        <p:spPr>
          <a:xfrm>
            <a:off x="731520" y="2011680"/>
            <a:ext cx="10725912"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Merci de votre attention</a:t>
            </a:r>
            <a:endParaRPr lang="en-US" sz="4200" dirty="0"/>
          </a:p>
        </p:txBody>
      </p:sp>
      <p:sp>
        <p:nvSpPr>
          <p:cNvPr id="5" name="Text 2"/>
          <p:cNvSpPr txBox="1"/>
          <p:nvPr/>
        </p:nvSpPr>
        <p:spPr>
          <a:xfrm>
            <a:off x="731520" y="2880360"/>
            <a:ext cx="10725912" cy="457200"/>
          </a:xfrm>
          <a:prstGeom prst="rect">
            <a:avLst/>
          </a:prstGeom>
          <a:noFill/>
          <a:ln/>
        </p:spPr>
        <p:txBody>
          <a:bodyPr wrap="square" lIns="0" tIns="0" rIns="0" bIns="0" rtlCol="0" anchor="ctr"/>
          <a:lstStyle/>
          <a:p>
            <a:pPr algn="ctr" indent="0" marL="0">
              <a:buNone/>
            </a:pPr>
            <a:r>
              <a:rPr lang="en-US" sz="1500" dirty="0">
                <a:solidFill>
                  <a:srgbClr val="D9A62E"/>
                </a:solidFill>
                <a:latin typeface="Calibri" pitchFamily="34" charset="0"/>
                <a:ea typeface="Calibri" pitchFamily="34" charset="-122"/>
                <a:cs typeface="Calibri" pitchFamily="34" charset="-120"/>
              </a:rPr>
              <a:t>SMS — Système de Management Scolaire multi-établissements</a:t>
            </a:r>
            <a:endParaRPr lang="en-US" sz="1500" dirty="0"/>
          </a:p>
        </p:txBody>
      </p:sp>
      <p:sp>
        <p:nvSpPr>
          <p:cNvPr id="6" name="Shape 3"/>
          <p:cNvSpPr/>
          <p:nvPr/>
        </p:nvSpPr>
        <p:spPr>
          <a:xfrm>
            <a:off x="4998568" y="3520440"/>
            <a:ext cx="2194560" cy="0"/>
          </a:xfrm>
          <a:prstGeom prst="line">
            <a:avLst/>
          </a:prstGeom>
          <a:noFill/>
          <a:ln w="12700">
            <a:solidFill>
              <a:srgbClr val="3A488A"/>
            </a:solidFill>
            <a:prstDash val="solid"/>
          </a:ln>
        </p:spPr>
      </p:sp>
      <p:sp>
        <p:nvSpPr>
          <p:cNvPr id="7" name="Text 4"/>
          <p:cNvSpPr txBox="1"/>
          <p:nvPr/>
        </p:nvSpPr>
        <p:spPr>
          <a:xfrm>
            <a:off x="731520" y="3703320"/>
            <a:ext cx="10725912" cy="457200"/>
          </a:xfrm>
          <a:prstGeom prst="rect">
            <a:avLst/>
          </a:prstGeom>
          <a:noFill/>
          <a:ln/>
        </p:spPr>
        <p:txBody>
          <a:bodyPr wrap="square" lIns="0" tIns="0" rIns="0" bIns="0" rtlCol="0" anchor="ctr"/>
          <a:lstStyle/>
          <a:p>
            <a:pPr algn="ctr" indent="0" marL="0">
              <a:buNone/>
            </a:pPr>
            <a:r>
              <a:rPr lang="en-US" sz="1400" i="1" dirty="0">
                <a:solidFill>
                  <a:srgbClr val="B9C2EA"/>
                </a:solidFill>
                <a:latin typeface="Calibri" pitchFamily="34" charset="0"/>
                <a:ea typeface="Calibri" pitchFamily="34" charset="-122"/>
                <a:cs typeface="Calibri" pitchFamily="34" charset="-120"/>
              </a:rPr>
              <a:t>Questions &amp; discussion</a:t>
            </a:r>
            <a:endParaRPr lang="en-US" sz="1400" dirty="0"/>
          </a:p>
        </p:txBody>
      </p:sp>
      <p:sp>
        <p:nvSpPr>
          <p:cNvPr id="8" name="Text 5"/>
          <p:cNvSpPr txBox="1"/>
          <p:nvPr/>
        </p:nvSpPr>
        <p:spPr>
          <a:xfrm>
            <a:off x="731520" y="6126480"/>
            <a:ext cx="10725912" cy="365760"/>
          </a:xfrm>
          <a:prstGeom prst="rect">
            <a:avLst/>
          </a:prstGeom>
          <a:noFill/>
          <a:ln/>
        </p:spPr>
        <p:txBody>
          <a:bodyPr wrap="square" lIns="0" tIns="0" rIns="0" bIns="0" rtlCol="0" anchor="ctr"/>
          <a:lstStyle/>
          <a:p>
            <a:pPr algn="ctr" indent="0" marL="0">
              <a:buNone/>
            </a:pPr>
            <a:r>
              <a:rPr lang="en-US" sz="1100" dirty="0">
                <a:solidFill>
                  <a:srgbClr val="8E9BD6"/>
                </a:solidFill>
                <a:latin typeface="Calibri" pitchFamily="34" charset="0"/>
                <a:ea typeface="Calibri" pitchFamily="34" charset="-122"/>
                <a:cs typeface="Calibri" pitchFamily="34" charset="-120"/>
              </a:rPr>
              <a:t>YEMEYA MELIA Luc Norbert · Licence Génie Logiciel 3 · ESMATA 2025–2026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2026-08-28T11:10:26Z</dcterms:created>
  <dcterms:modified xsi:type="dcterms:W3CDTF">2026-08-28T11:10:26Z</dcterms:modified>
</cp:coreProperties>
</file>